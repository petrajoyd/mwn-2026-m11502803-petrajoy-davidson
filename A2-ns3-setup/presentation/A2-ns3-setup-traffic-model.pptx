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E15BFE-7E71-40F1-A8AD-41F2C24D84CF}"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DF7654-5E45-45A2-B7AE-B1D44F6161B0}" type="slidenum">
              <a:rPr lang="en-US" smtClean="0"/>
              <a:t>‹#›</a:t>
            </a:fld>
            <a:endParaRPr lang="en-US"/>
          </a:p>
        </p:txBody>
      </p:sp>
    </p:spTree>
    <p:extLst>
      <p:ext uri="{BB962C8B-B14F-4D97-AF65-F5344CB8AC3E}">
        <p14:creationId xmlns:p14="http://schemas.microsoft.com/office/powerpoint/2010/main" val="3436204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 I am Petrajoy, and this is my A2: ns-3 setup and traffic model.</a:t>
            </a:r>
          </a:p>
          <a:p>
            <a:endParaRPr lang="en-US"/>
          </a:p>
          <a:p>
            <a:r>
              <a:rPr lang="en-US"/>
              <a:t>My project is about intent-based management for O-RAN slicing. So instead of a generic first scenario, I built the testbed my project needs. In the next ten minutes I will show that the simulator runs, that my traffic model matches the 3GPP model, and that this setup already reproduces the problem I want to solve.</a:t>
            </a:r>
          </a:p>
        </p:txBody>
      </p:sp>
      <p:sp>
        <p:nvSpPr>
          <p:cNvPr id="4" name="Slide Number Placeholder 3"/>
          <p:cNvSpPr>
            <a:spLocks noGrp="1"/>
          </p:cNvSpPr>
          <p:nvPr>
            <p:ph type="sldNum" sz="quarter" idx="5"/>
          </p:nvPr>
        </p:nvSpPr>
        <p:spPr/>
        <p:txBody>
          <a:bodyPr/>
          <a:lstStyle/>
          <a:p>
            <a:fld id="{00DF7654-5E45-45A2-B7AE-B1D44F6161B0}" type="slidenum">
              <a:rPr lang="en-US" smtClean="0"/>
              <a:t>1</a:t>
            </a:fld>
            <a:endParaRPr lang="en-US"/>
          </a:p>
        </p:txBody>
      </p:sp>
    </p:spTree>
    <p:extLst>
      <p:ext uri="{BB962C8B-B14F-4D97-AF65-F5344CB8AC3E}">
        <p14:creationId xmlns:p14="http://schemas.microsoft.com/office/powerpoint/2010/main" val="689898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reminder of the problem from A1.</a:t>
            </a:r>
          </a:p>
          <a:p>
            <a:endParaRPr lang="en-US"/>
          </a:p>
          <a:p>
            <a:r>
              <a:rPr lang="en-US"/>
              <a:t>An operator writes an intent, for example: give the video slice ninety percent of the carrier. The system translates it into a configuration and enacts it automatically, with no human in the loop.</a:t>
            </a:r>
          </a:p>
          <a:p>
            <a:endParaRPr lang="en-US"/>
          </a:p>
          <a:p>
            <a:r>
              <a:rPr lang="en-US"/>
              <a:t>Before enacting, today's pipelines usually run one check: does the request fit in the cell's capacity? If the shares add up and every slice still gets some resource blocks, the intent is accepted.</a:t>
            </a:r>
          </a:p>
          <a:p>
            <a:endParaRPr lang="en-US"/>
          </a:p>
          <a:p>
            <a:r>
              <a:rPr lang="en-US"/>
              <a:t>My question is whether "it fits" also means "it is safe" for the other slices. In this assignment I built exactly this loop, intent, capacity check, enactment, measurement, in ns-3, so I can test that question with numbers.</a:t>
            </a:r>
          </a:p>
        </p:txBody>
      </p:sp>
      <p:sp>
        <p:nvSpPr>
          <p:cNvPr id="4" name="Slide Number Placeholder 3"/>
          <p:cNvSpPr>
            <a:spLocks noGrp="1"/>
          </p:cNvSpPr>
          <p:nvPr>
            <p:ph type="sldNum" sz="quarter" idx="5"/>
          </p:nvPr>
        </p:nvSpPr>
        <p:spPr/>
        <p:txBody>
          <a:bodyPr/>
          <a:lstStyle/>
          <a:p>
            <a:fld id="{00DF7654-5E45-45A2-B7AE-B1D44F6161B0}" type="slidenum">
              <a:rPr lang="en-US" smtClean="0"/>
              <a:t>2</a:t>
            </a:fld>
            <a:endParaRPr lang="en-US"/>
          </a:p>
        </p:txBody>
      </p:sp>
    </p:spTree>
    <p:extLst>
      <p:ext uri="{BB962C8B-B14F-4D97-AF65-F5344CB8AC3E}">
        <p14:creationId xmlns:p14="http://schemas.microsoft.com/office/powerpoint/2010/main" val="586709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setup. I run ns-3 version 3.48 with the 5G-LENA NR module, version 5.1, which is the release paired with 3.48. It runs on my lab VM: Ubuntu 22.04, eight virtual CPUs, sixteen gigabytes of RAM. The full build has about two thousand four hundred targets and took fifty-three minutes.</a:t>
            </a:r>
          </a:p>
          <a:p>
            <a:endParaRPr lang="en-US"/>
          </a:p>
          <a:p>
            <a:r>
              <a:rPr lang="en-US"/>
              <a:t>Four things broke, and they are all in my study note.</a:t>
            </a:r>
          </a:p>
          <a:p>
            <a:endParaRPr lang="en-US"/>
          </a:p>
          <a:p>
            <a:r>
              <a:rPr lang="en-US"/>
              <a:t>One: I cloned everything as root, and ns-3 refuses to build as root. I moved the tree to my normal user.</a:t>
            </a:r>
          </a:p>
          <a:p>
            <a:endParaRPr lang="en-US"/>
          </a:p>
          <a:p>
            <a:r>
              <a:rPr lang="en-US"/>
              <a:t>Two: ns-3.48 needs CMake 3.25, but Ubuntu 22.04 ships 3.22. I installed a newer CMake for my user only, so nothing else on the VM changed.</a:t>
            </a:r>
          </a:p>
          <a:p>
            <a:endParaRPr lang="en-US"/>
          </a:p>
          <a:p>
            <a:r>
              <a:rPr lang="en-US"/>
              <a:t>Three: the 5G-LENA README still shows old install commands. I followed its compatibility table instead.</a:t>
            </a:r>
          </a:p>
          <a:p>
            <a:endParaRPr lang="en-US"/>
          </a:p>
          <a:p>
            <a:r>
              <a:rPr lang="en-US"/>
              <a:t>Four: Wireshark labelled my video packets as a protocol called TAPA, because it uses the same UDP port 5000. I disabled that dissector.</a:t>
            </a:r>
          </a:p>
        </p:txBody>
      </p:sp>
      <p:sp>
        <p:nvSpPr>
          <p:cNvPr id="4" name="Slide Number Placeholder 3"/>
          <p:cNvSpPr>
            <a:spLocks noGrp="1"/>
          </p:cNvSpPr>
          <p:nvPr>
            <p:ph type="sldNum" sz="quarter" idx="5"/>
          </p:nvPr>
        </p:nvSpPr>
        <p:spPr/>
        <p:txBody>
          <a:bodyPr/>
          <a:lstStyle/>
          <a:p>
            <a:fld id="{00DF7654-5E45-45A2-B7AE-B1D44F6161B0}" type="slidenum">
              <a:rPr lang="en-US" smtClean="0"/>
              <a:t>3</a:t>
            </a:fld>
            <a:endParaRPr lang="en-US"/>
          </a:p>
        </p:txBody>
      </p:sp>
    </p:spTree>
    <p:extLst>
      <p:ext uri="{BB962C8B-B14F-4D97-AF65-F5344CB8AC3E}">
        <p14:creationId xmlns:p14="http://schemas.microsoft.com/office/powerpoint/2010/main" val="1798221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traffic, I used the XR video model of 3GPP TR 26.926. One note: 26.926 is a technical report, not a technical specification. Its video model comes from TR 38.838.</a:t>
            </a:r>
          </a:p>
          <a:p>
            <a:endParaRPr lang="en-US"/>
          </a:p>
          <a:p>
            <a:r>
              <a:rPr lang="en-US"/>
              <a:t>The model is simple. Sixty frames per second at thirty megabits per second. The frame size is a truncated Gaussian: mean 62.5 kilobytes, standard deviation 10.5 percent, cut at fifty and one hundred fifty percent. Each frame also has a jitter, a truncated Gaussian with a standard deviation of two milliseconds, cut at plus or minus four.</a:t>
            </a:r>
          </a:p>
          <a:p>
            <a:endParaRPr lang="en-US"/>
          </a:p>
          <a:p>
            <a:r>
              <a:rPr lang="en-US"/>
              <a:t>From this I can predict what I should see: frames every 16.7 milliseconds give or take the jitter, and since I cut each frame into packets of at most 1400 bytes, about forty-five packets per frame, sent back to back.</a:t>
            </a:r>
          </a:p>
        </p:txBody>
      </p:sp>
      <p:sp>
        <p:nvSpPr>
          <p:cNvPr id="4" name="Slide Number Placeholder 3"/>
          <p:cNvSpPr>
            <a:spLocks noGrp="1"/>
          </p:cNvSpPr>
          <p:nvPr>
            <p:ph type="sldNum" sz="quarter" idx="5"/>
          </p:nvPr>
        </p:nvSpPr>
        <p:spPr/>
        <p:txBody>
          <a:bodyPr/>
          <a:lstStyle/>
          <a:p>
            <a:fld id="{00DF7654-5E45-45A2-B7AE-B1D44F6161B0}" type="slidenum">
              <a:rPr lang="en-US" smtClean="0"/>
              <a:t>4</a:t>
            </a:fld>
            <a:endParaRPr lang="en-US"/>
          </a:p>
        </p:txBody>
      </p:sp>
    </p:spTree>
    <p:extLst>
      <p:ext uri="{BB962C8B-B14F-4D97-AF65-F5344CB8AC3E}">
        <p14:creationId xmlns:p14="http://schemas.microsoft.com/office/powerpoint/2010/main" val="118379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5G-LENA already has a generator for this model, so my first plan was to use it. But when I read its source code, it does not match the table.</a:t>
            </a:r>
          </a:p>
          <a:p>
            <a:endParaRPr lang="en-US"/>
          </a:p>
          <a:p>
            <a:r>
              <a:rPr lang="en-US"/>
              <a:t>The biggest issue: it sets the variance of the frame size to 0.105 times the mean, instead of the standard deviation. So the spread of the frame size is about 81 bytes instead of about 6 500. The frames are almost constant.</a:t>
            </a:r>
          </a:p>
          <a:p>
            <a:endParaRPr lang="en-US"/>
          </a:p>
          <a:p>
            <a:r>
              <a:rPr lang="en-US"/>
              <a:t>It also uses a jitter range of plus or minus two milliseconds instead of four, it adds the jitter to every gap so the frame times drift like a random walk, and the jitter is in whole milliseconds.</a:t>
            </a:r>
          </a:p>
          <a:p>
            <a:endParaRPr lang="en-US"/>
          </a:p>
          <a:p>
            <a:r>
              <a:rPr lang="en-US"/>
              <a:t>So I wrote my own generator, XrVideoApp. I used AI to help write it, and then I checked every parameter against the table myself, and checked the output against the model, which is the next part.</a:t>
            </a:r>
          </a:p>
        </p:txBody>
      </p:sp>
      <p:sp>
        <p:nvSpPr>
          <p:cNvPr id="4" name="Slide Number Placeholder 3"/>
          <p:cNvSpPr>
            <a:spLocks noGrp="1"/>
          </p:cNvSpPr>
          <p:nvPr>
            <p:ph type="sldNum" sz="quarter" idx="5"/>
          </p:nvPr>
        </p:nvSpPr>
        <p:spPr/>
        <p:txBody>
          <a:bodyPr/>
          <a:lstStyle/>
          <a:p>
            <a:fld id="{00DF7654-5E45-45A2-B7AE-B1D44F6161B0}" type="slidenum">
              <a:rPr lang="en-US" smtClean="0"/>
              <a:t>5</a:t>
            </a:fld>
            <a:endParaRPr lang="en-US"/>
          </a:p>
        </p:txBody>
      </p:sp>
    </p:spTree>
    <p:extLst>
      <p:ext uri="{BB962C8B-B14F-4D97-AF65-F5344CB8AC3E}">
        <p14:creationId xmlns:p14="http://schemas.microsoft.com/office/powerpoint/2010/main" val="4026983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scenario. An intent is a small JSON file: the bandwidth share of slice A, the number of users, the traffic, and the SLA of slice B.</a:t>
            </a:r>
          </a:p>
          <a:p>
            <a:endParaRPr lang="en-US"/>
          </a:p>
          <a:p>
            <a:r>
              <a:rPr lang="en-US"/>
              <a:t>A Python script runs the capacity-only check, translates the intent into ns-3 arguments, and runs the simulation.</a:t>
            </a:r>
          </a:p>
          <a:p>
            <a:endParaRPr lang="en-US"/>
          </a:p>
          <a:p>
            <a:r>
              <a:rPr lang="en-US"/>
              <a:t>In ns-3 there is one gNB at 28 gigahertz with one hundred megahertz, split into two bandwidth parts. Bandwidth part zero is slice A: two users receiving my XR video, thirty megabits each. Bandwidth part one is slice B, the low-latency slice, mapped to 5QI 80. Its SLA is a ninety-fifth percentile delay of ten milliseconds, from the 5QI 80 delay budget, and at most one percent loss.</a:t>
            </a:r>
          </a:p>
          <a:p>
            <a:endParaRPr lang="en-US"/>
          </a:p>
          <a:p>
            <a:r>
              <a:rPr lang="en-US"/>
              <a:t>At the end I get a FlowMonitor file, a log of every packet I sent, and a PCAP, and a second script turns them into plots and an SLA verdict.</a:t>
            </a:r>
          </a:p>
        </p:txBody>
      </p:sp>
      <p:sp>
        <p:nvSpPr>
          <p:cNvPr id="4" name="Slide Number Placeholder 3"/>
          <p:cNvSpPr>
            <a:spLocks noGrp="1"/>
          </p:cNvSpPr>
          <p:nvPr>
            <p:ph type="sldNum" sz="quarter" idx="5"/>
          </p:nvPr>
        </p:nvSpPr>
        <p:spPr/>
        <p:txBody>
          <a:bodyPr/>
          <a:lstStyle/>
          <a:p>
            <a:fld id="{00DF7654-5E45-45A2-B7AE-B1D44F6161B0}" type="slidenum">
              <a:rPr lang="en-US" smtClean="0"/>
              <a:t>6</a:t>
            </a:fld>
            <a:endParaRPr lang="en-US"/>
          </a:p>
        </p:txBody>
      </p:sp>
    </p:spTree>
    <p:extLst>
      <p:ext uri="{BB962C8B-B14F-4D97-AF65-F5344CB8AC3E}">
        <p14:creationId xmlns:p14="http://schemas.microsoft.com/office/powerpoint/2010/main" val="3247138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is my traffic really the 3GPP model?</a:t>
            </a:r>
          </a:p>
          <a:p>
            <a:endParaRPr lang="en-US"/>
          </a:p>
          <a:p>
            <a:r>
              <a:rPr lang="en-US"/>
              <a:t>Blue is my run, orange is the model. The top row is the frame size, PDF and CDF. The second row is the frame inter-arrival time. The bottom rows are the packet size and the packet inter-arrival time.</a:t>
            </a:r>
          </a:p>
          <a:p>
            <a:endParaRPr lang="en-US"/>
          </a:p>
          <a:p>
            <a:r>
              <a:rPr lang="en-US"/>
              <a:t>For the three random quantities I ran a Kolmogorov-Smirnov test against the model. Frame size: p equals 0.38. Jitter: 0.98. Frame inter-arrival: 0.95. All far above 0.05, so there is no evidence that my generator differs from the model. The means also match: 62.3 kilobytes against 62.5, and 16.66 milliseconds against 16.67.</a:t>
            </a:r>
          </a:p>
          <a:p>
            <a:endParaRPr lang="en-US"/>
          </a:p>
          <a:p>
            <a:r>
              <a:rPr lang="en-US"/>
              <a:t>The packet curves look strange, but they are expected: almost every packet is 1400 bytes with one smaller remainder per frame, and almost every gap is zero because the packets of a frame leave together.</a:t>
            </a:r>
          </a:p>
        </p:txBody>
      </p:sp>
      <p:sp>
        <p:nvSpPr>
          <p:cNvPr id="4" name="Slide Number Placeholder 3"/>
          <p:cNvSpPr>
            <a:spLocks noGrp="1"/>
          </p:cNvSpPr>
          <p:nvPr>
            <p:ph type="sldNum" sz="quarter" idx="5"/>
          </p:nvPr>
        </p:nvSpPr>
        <p:spPr/>
        <p:txBody>
          <a:bodyPr/>
          <a:lstStyle/>
          <a:p>
            <a:fld id="{00DF7654-5E45-45A2-B7AE-B1D44F6161B0}" type="slidenum">
              <a:rPr lang="en-US" smtClean="0"/>
              <a:t>7</a:t>
            </a:fld>
            <a:endParaRPr lang="en-US"/>
          </a:p>
        </p:txBody>
      </p:sp>
    </p:spTree>
    <p:extLst>
      <p:ext uri="{BB962C8B-B14F-4D97-AF65-F5344CB8AC3E}">
        <p14:creationId xmlns:p14="http://schemas.microsoft.com/office/powerpoint/2010/main" val="13765125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Second, is it really on the network? I captured the link from the server into the core and opened it in Wireshark.</a:t>
            </a:r>
          </a:p>
          <a:p>
            <a:endParaRPr lang="en-US"/>
          </a:p>
          <a:p>
            <a:r>
              <a:rPr lang="en-US"/>
              <a:t>The I/O graph shows one spike per video frame. Most spikes are about five hundred kilobits, which is exactly one frame of 62.5 kilobytes. The taller ones are two users' frames in the same millisecond. The flat line at the bottom is slice B.</a:t>
            </a:r>
          </a:p>
          <a:p>
            <a:endParaRPr lang="en-US"/>
          </a:p>
          <a:p>
            <a:r>
              <a:rPr lang="en-US"/>
              <a:t>And the three sources agree packet for packet: Wireshark, FlowMonitor, and my own send log all count 29 715 video packets.</a:t>
            </a:r>
          </a:p>
        </p:txBody>
      </p:sp>
      <p:sp>
        <p:nvSpPr>
          <p:cNvPr id="4" name="Slide Number Placeholder 3"/>
          <p:cNvSpPr>
            <a:spLocks noGrp="1"/>
          </p:cNvSpPr>
          <p:nvPr>
            <p:ph type="sldNum" sz="quarter" idx="5"/>
          </p:nvPr>
        </p:nvSpPr>
        <p:spPr/>
        <p:txBody>
          <a:bodyPr/>
          <a:lstStyle/>
          <a:p>
            <a:fld id="{00DF7654-5E45-45A2-B7AE-B1D44F6161B0}" type="slidenum">
              <a:rPr lang="en-US" smtClean="0"/>
              <a:t>8</a:t>
            </a:fld>
            <a:endParaRPr lang="en-US"/>
          </a:p>
        </p:txBody>
      </p:sp>
    </p:spTree>
    <p:extLst>
      <p:ext uri="{BB962C8B-B14F-4D97-AF65-F5344CB8AC3E}">
        <p14:creationId xmlns:p14="http://schemas.microsoft.com/office/powerpoint/2010/main" val="3995295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the main result. I enacted four intents. All four passed the capacity-only check.</a:t>
            </a:r>
          </a:p>
          <a:p>
            <a:endParaRPr lang="en-US"/>
          </a:p>
          <a:p>
            <a:r>
              <a:rPr lang="en-US"/>
              <a:t>With a seventy-thirty split and a light slice B, everything is fine. With ninety-ten and a light slice B, still fine: slice B only needs about half a megabit.</a:t>
            </a:r>
          </a:p>
          <a:p>
            <a:endParaRPr lang="en-US"/>
          </a:p>
          <a:p>
            <a:r>
              <a:rPr lang="en-US"/>
              <a:t>Then I made slice B heavier, forty megabits in total. At seventy-thirty it is still fine: one point one milliseconds at the ninety-fifth percentile.</a:t>
            </a:r>
          </a:p>
          <a:p>
            <a:endParaRPr lang="en-US"/>
          </a:p>
          <a:p>
            <a:r>
              <a:rPr lang="en-US"/>
              <a:t>But at ninety-ten with the heavy slice B, the ninety-fifth percentile delay is 12.7 milliseconds, above the ten-millisecond budget, and ten percent of its packets are not delivered. The SLA is violated, and the capacity check accepted it.</a:t>
            </a:r>
          </a:p>
          <a:p>
            <a:endParaRPr lang="en-US"/>
          </a:p>
          <a:p>
            <a:r>
              <a:rPr lang="en-US"/>
              <a:t>So the same split is safe or harmful depending on slice B's load. A check that only looks at the shares cannot see that.</a:t>
            </a:r>
          </a:p>
        </p:txBody>
      </p:sp>
      <p:sp>
        <p:nvSpPr>
          <p:cNvPr id="4" name="Slide Number Placeholder 3"/>
          <p:cNvSpPr>
            <a:spLocks noGrp="1"/>
          </p:cNvSpPr>
          <p:nvPr>
            <p:ph type="sldNum" sz="quarter" idx="5"/>
          </p:nvPr>
        </p:nvSpPr>
        <p:spPr/>
        <p:txBody>
          <a:bodyPr/>
          <a:lstStyle/>
          <a:p>
            <a:fld id="{00DF7654-5E45-45A2-B7AE-B1D44F6161B0}" type="slidenum">
              <a:rPr lang="en-US" smtClean="0"/>
              <a:t>9</a:t>
            </a:fld>
            <a:endParaRPr lang="en-US"/>
          </a:p>
        </p:txBody>
      </p:sp>
    </p:spTree>
    <p:extLst>
      <p:ext uri="{BB962C8B-B14F-4D97-AF65-F5344CB8AC3E}">
        <p14:creationId xmlns:p14="http://schemas.microsoft.com/office/powerpoint/2010/main" val="3847449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take-aways.</a:t>
            </a:r>
          </a:p>
          <a:p>
            <a:endParaRPr lang="en-US"/>
          </a:p>
          <a:p>
            <a:r>
              <a:rPr lang="en-US"/>
              <a:t>One: ns-3.48 with 5G-LENA runs on my VM, and the setup is documented, including what broke.</a:t>
            </a:r>
          </a:p>
          <a:p>
            <a:endParaRPr lang="en-US"/>
          </a:p>
          <a:p>
            <a:r>
              <a:rPr lang="en-US"/>
              <a:t>Two: my XR video generator matches the 3GPP model, checked with PDFs, CDFs, KS tests, and Wireshark.</a:t>
            </a:r>
          </a:p>
          <a:p>
            <a:endParaRPr lang="en-US"/>
          </a:p>
          <a:p>
            <a:r>
              <a:rPr lang="en-US"/>
              <a:t>Three: the capacity-only check accepts an intent that breaks slice B's SLA, and whether an intent is harmful depends on the victim's load, not only on the share.</a:t>
            </a:r>
          </a:p>
          <a:p>
            <a:endParaRPr lang="en-US"/>
          </a:p>
          <a:p>
            <a:r>
              <a:rPr lang="en-US"/>
              <a:t>The limits: one seed and six seconds per run so far. Next, in A3 I pick the baseline paper. In A4 I sweep the share and the load with at least ten seeds. And for the final project, I build the QoS-aware check that should reject intents like the last one.</a:t>
            </a:r>
          </a:p>
          <a:p>
            <a:endParaRPr lang="en-US"/>
          </a:p>
          <a:p>
            <a:r>
              <a:rPr lang="en-US"/>
              <a:t>Thank you. I am happy to take questions.</a:t>
            </a:r>
          </a:p>
        </p:txBody>
      </p:sp>
      <p:sp>
        <p:nvSpPr>
          <p:cNvPr id="4" name="Slide Number Placeholder 3"/>
          <p:cNvSpPr>
            <a:spLocks noGrp="1"/>
          </p:cNvSpPr>
          <p:nvPr>
            <p:ph type="sldNum" sz="quarter" idx="5"/>
          </p:nvPr>
        </p:nvSpPr>
        <p:spPr/>
        <p:txBody>
          <a:bodyPr/>
          <a:lstStyle/>
          <a:p>
            <a:fld id="{00DF7654-5E45-45A2-B7AE-B1D44F6161B0}" type="slidenum">
              <a:rPr lang="en-US" smtClean="0"/>
              <a:t>10</a:t>
            </a:fld>
            <a:endParaRPr lang="en-US"/>
          </a:p>
        </p:txBody>
      </p:sp>
    </p:spTree>
    <p:extLst>
      <p:ext uri="{BB962C8B-B14F-4D97-AF65-F5344CB8AC3E}">
        <p14:creationId xmlns:p14="http://schemas.microsoft.com/office/powerpoint/2010/main" val="2186420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83BF-6879-96FF-6241-E86BC665BD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77EE14-9FC0-765D-ECD0-A2E44FA54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9F8FD5-8FE0-F80A-B5A7-E065D3C03094}"/>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5" name="Footer Placeholder 4">
            <a:extLst>
              <a:ext uri="{FF2B5EF4-FFF2-40B4-BE49-F238E27FC236}">
                <a16:creationId xmlns:a16="http://schemas.microsoft.com/office/drawing/2014/main" id="{2D6C771C-5B8C-9E81-37E2-F6C506D3B2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B8547A-4C05-AF2A-4504-43ACB3DD2AD6}"/>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4085172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E7059-9C66-A31F-EC41-EEC1508113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135B07-2B0A-2193-4F77-9C4B49034A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0495E-B3E4-2B98-1FB9-D68617B6DFED}"/>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5" name="Footer Placeholder 4">
            <a:extLst>
              <a:ext uri="{FF2B5EF4-FFF2-40B4-BE49-F238E27FC236}">
                <a16:creationId xmlns:a16="http://schemas.microsoft.com/office/drawing/2014/main" id="{9D0D1F80-095A-38D3-82AC-29CD04799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4280F1-644D-A9B1-09A8-B36CFCCD97C9}"/>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686507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CE900-58F6-E513-F977-01C39FB05F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74FB3E-84D2-3628-5485-74F6B89AB9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15A04B-2352-AF74-D615-F2483C7AE1DF}"/>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5" name="Footer Placeholder 4">
            <a:extLst>
              <a:ext uri="{FF2B5EF4-FFF2-40B4-BE49-F238E27FC236}">
                <a16:creationId xmlns:a16="http://schemas.microsoft.com/office/drawing/2014/main" id="{B26152BB-8F2A-5DD7-00DF-4F3E01E5EE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82D0F7-AEAF-D876-8D95-241C9D100C73}"/>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974868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0D084-16C3-A3E9-2D23-06EB5CB270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75395-9372-65BF-87E0-6EF7D9D9F4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B8F4DA-F8CA-689E-B961-8D5C24AE7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834A79-67BD-FAA8-8E51-59A378A8FD73}"/>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6" name="Footer Placeholder 5">
            <a:extLst>
              <a:ext uri="{FF2B5EF4-FFF2-40B4-BE49-F238E27FC236}">
                <a16:creationId xmlns:a16="http://schemas.microsoft.com/office/drawing/2014/main" id="{69A9CB88-8E77-3999-6064-F3F2CC26FF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08E85B-952E-DE30-3312-D396A5C52D84}"/>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435277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F3282-1298-4A1D-DBA5-F1C2726916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0DC23E-0905-2E0B-0209-6F325D8D42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1E8986-1A29-0E3C-0B21-62CEB4A7E2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8FCDE8-02ED-E3A3-A9AB-2F86BF1D99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89653C-9BFE-8C5A-AEE7-C883E558DE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C60563-AABB-7BD2-1BA5-26637BB6D5E1}"/>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8" name="Footer Placeholder 7">
            <a:extLst>
              <a:ext uri="{FF2B5EF4-FFF2-40B4-BE49-F238E27FC236}">
                <a16:creationId xmlns:a16="http://schemas.microsoft.com/office/drawing/2014/main" id="{D20B98E0-3B21-1A87-836C-59989AC284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F39769-55D6-6630-FDDE-DB3204617F75}"/>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1537507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9FAC8-25E7-32C6-2E24-1A38ED232B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09BA6D-BBF6-B68E-1F6F-309EA4A5A813}"/>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4" name="Footer Placeholder 3">
            <a:extLst>
              <a:ext uri="{FF2B5EF4-FFF2-40B4-BE49-F238E27FC236}">
                <a16:creationId xmlns:a16="http://schemas.microsoft.com/office/drawing/2014/main" id="{A350AD6E-A29D-9404-CDD3-00FD5565F5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839429-89DA-3A1E-F217-E2DD4D436AA5}"/>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2361712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08565E-B1DF-B981-0D9E-256C59544724}"/>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3" name="Footer Placeholder 2">
            <a:extLst>
              <a:ext uri="{FF2B5EF4-FFF2-40B4-BE49-F238E27FC236}">
                <a16:creationId xmlns:a16="http://schemas.microsoft.com/office/drawing/2014/main" id="{F360BF10-4F93-78FA-EA22-75BB45BD76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97E228-10E1-6257-245D-2F0445EDB3C9}"/>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3927478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F2A5B-D3B0-C89B-297C-16920627C9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301730-1B76-F18D-1EA1-9F71A8CCE2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B1DD1E-9B20-6BF7-D013-A7BC3747E8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EB9721-BF24-DEBA-8694-274C6B74E3DD}"/>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6" name="Footer Placeholder 5">
            <a:extLst>
              <a:ext uri="{FF2B5EF4-FFF2-40B4-BE49-F238E27FC236}">
                <a16:creationId xmlns:a16="http://schemas.microsoft.com/office/drawing/2014/main" id="{8E36F1A5-4076-53D5-574A-5301D4722C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FA03A-FEA4-4500-E47D-15D5B98A8100}"/>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552171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48C14-C202-2010-8650-8909056BC7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DFDA98-992B-5932-F094-560668377F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E379FD-BE64-F07F-D092-E621218B4F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2D4C9B-73CA-3CFA-044B-5B06246E53EE}"/>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6" name="Footer Placeholder 5">
            <a:extLst>
              <a:ext uri="{FF2B5EF4-FFF2-40B4-BE49-F238E27FC236}">
                <a16:creationId xmlns:a16="http://schemas.microsoft.com/office/drawing/2014/main" id="{B221B45F-3571-8030-6D8B-5FF4D5DCC7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C864FA-B42F-AF53-8DCF-30643A1CA1EC}"/>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2129333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DDFC4-F337-CBB0-4A3B-146DD8C1B5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928BEB-4584-3399-C579-89A09D475C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DF0391-37E5-6074-A981-BACF640AB8AF}"/>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5" name="Footer Placeholder 4">
            <a:extLst>
              <a:ext uri="{FF2B5EF4-FFF2-40B4-BE49-F238E27FC236}">
                <a16:creationId xmlns:a16="http://schemas.microsoft.com/office/drawing/2014/main" id="{B2EC6079-C47F-7C7F-BF42-7210BC080B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955F31-C5A3-A810-1BD1-031D1234D151}"/>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4101400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6E9C55-D60A-427D-A8D7-6D1ADE0B87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CD52D5-3B0A-05C7-D5C5-9867D792AE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D39F86-0C57-0FAF-E4B2-BD1193D162B8}"/>
              </a:ext>
            </a:extLst>
          </p:cNvPr>
          <p:cNvSpPr>
            <a:spLocks noGrp="1"/>
          </p:cNvSpPr>
          <p:nvPr>
            <p:ph type="dt" sz="half" idx="10"/>
          </p:nvPr>
        </p:nvSpPr>
        <p:spPr/>
        <p:txBody>
          <a:bodyPr/>
          <a:lstStyle/>
          <a:p>
            <a:fld id="{9AF1C1B2-9816-4216-AD63-64B85CF5E63C}" type="datetimeFigureOut">
              <a:rPr lang="en-US" smtClean="0"/>
              <a:t>10/17/2026</a:t>
            </a:fld>
            <a:endParaRPr lang="en-US"/>
          </a:p>
        </p:txBody>
      </p:sp>
      <p:sp>
        <p:nvSpPr>
          <p:cNvPr id="5" name="Footer Placeholder 4">
            <a:extLst>
              <a:ext uri="{FF2B5EF4-FFF2-40B4-BE49-F238E27FC236}">
                <a16:creationId xmlns:a16="http://schemas.microsoft.com/office/drawing/2014/main" id="{69A09E24-3413-204D-CEBC-5F57E2DD3F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A93A13-A4C8-1B05-459B-E5823BF427CE}"/>
              </a:ext>
            </a:extLst>
          </p:cNvPr>
          <p:cNvSpPr>
            <a:spLocks noGrp="1"/>
          </p:cNvSpPr>
          <p:nvPr>
            <p:ph type="sldNum" sz="quarter" idx="12"/>
          </p:nvPr>
        </p:nvSpPr>
        <p:spPr/>
        <p:txBody>
          <a:bodyPr/>
          <a:lstStyle/>
          <a:p>
            <a:fld id="{7E683DAD-11F8-48EC-95CD-4467A182AAB2}" type="slidenum">
              <a:rPr lang="en-US" smtClean="0"/>
              <a:t>‹#›</a:t>
            </a:fld>
            <a:endParaRPr lang="en-US"/>
          </a:p>
        </p:txBody>
      </p:sp>
    </p:spTree>
    <p:extLst>
      <p:ext uri="{BB962C8B-B14F-4D97-AF65-F5344CB8AC3E}">
        <p14:creationId xmlns:p14="http://schemas.microsoft.com/office/powerpoint/2010/main" val="1193691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B7C875-C53E-A281-6EC1-C2C6F50AE8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52252D-077D-E5BC-AB05-AB6A70465A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1DEBC3-5D79-9B7E-1C36-1A78A303CB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F1C1B2-9816-4216-AD63-64B85CF5E63C}" type="datetimeFigureOut">
              <a:rPr lang="en-US" smtClean="0"/>
              <a:t>10/17/2026</a:t>
            </a:fld>
            <a:endParaRPr lang="en-US"/>
          </a:p>
        </p:txBody>
      </p:sp>
      <p:sp>
        <p:nvSpPr>
          <p:cNvPr id="5" name="Footer Placeholder 4">
            <a:extLst>
              <a:ext uri="{FF2B5EF4-FFF2-40B4-BE49-F238E27FC236}">
                <a16:creationId xmlns:a16="http://schemas.microsoft.com/office/drawing/2014/main" id="{84DC1563-7467-7868-F78E-1261A0496F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D01966-F7C4-AAF7-A74A-D6C4482060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683DAD-11F8-48EC-95CD-4467A182AAB2}" type="slidenum">
              <a:rPr lang="en-US" smtClean="0"/>
              <a:t>‹#›</a:t>
            </a:fld>
            <a:endParaRPr lang="en-US"/>
          </a:p>
        </p:txBody>
      </p:sp>
    </p:spTree>
    <p:extLst>
      <p:ext uri="{BB962C8B-B14F-4D97-AF65-F5344CB8AC3E}">
        <p14:creationId xmlns:p14="http://schemas.microsoft.com/office/powerpoint/2010/main" val="1893290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9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471F68-A510-C31B-849B-36BF83EB86C5}"/>
              </a:ext>
            </a:extLst>
          </p:cNvPr>
          <p:cNvSpPr txBox="1"/>
          <p:nvPr/>
        </p:nvSpPr>
        <p:spPr>
          <a:xfrm>
            <a:off x="762000" y="1219200"/>
            <a:ext cx="10668000" cy="369332"/>
          </a:xfrm>
          <a:prstGeom prst="rect">
            <a:avLst/>
          </a:prstGeom>
          <a:noFill/>
        </p:spPr>
        <p:txBody>
          <a:bodyPr vert="horz" wrap="square" lIns="0" tIns="0" rIns="0" bIns="0" rtlCol="0">
            <a:noAutofit/>
          </a:bodyPr>
          <a:lstStyle/>
          <a:p>
            <a:r>
              <a:rPr lang="en-US" sz="1400" b="1">
                <a:solidFill>
                  <a:srgbClr val="EB6834"/>
                </a:solidFill>
                <a:latin typeface="Calibri" panose="020F0502020204030204" pitchFamily="34" charset="0"/>
              </a:rPr>
              <a:t>MULTIMEDIA WIRELESS NETWORKS  |  A2</a:t>
            </a:r>
          </a:p>
        </p:txBody>
      </p:sp>
      <p:sp>
        <p:nvSpPr>
          <p:cNvPr id="3" name="TextBox 2">
            <a:extLst>
              <a:ext uri="{FF2B5EF4-FFF2-40B4-BE49-F238E27FC236}">
                <a16:creationId xmlns:a16="http://schemas.microsoft.com/office/drawing/2014/main" id="{2DDD14CA-7C1E-7FEE-2319-75115249681C}"/>
              </a:ext>
            </a:extLst>
          </p:cNvPr>
          <p:cNvSpPr txBox="1"/>
          <p:nvPr/>
        </p:nvSpPr>
        <p:spPr>
          <a:xfrm>
            <a:off x="762000" y="1574800"/>
            <a:ext cx="10668000" cy="369332"/>
          </a:xfrm>
          <a:prstGeom prst="rect">
            <a:avLst/>
          </a:prstGeom>
          <a:noFill/>
        </p:spPr>
        <p:txBody>
          <a:bodyPr vert="horz" wrap="square" lIns="0" tIns="0" rIns="0" bIns="0" rtlCol="0">
            <a:noAutofit/>
          </a:bodyPr>
          <a:lstStyle/>
          <a:p>
            <a:r>
              <a:rPr lang="en-US" sz="4200" b="1">
                <a:solidFill>
                  <a:srgbClr val="FFFFFF"/>
                </a:solidFill>
                <a:latin typeface="Cambria" panose="02040503050406030204" pitchFamily="18" charset="0"/>
              </a:rPr>
              <a:t>An intent can fit and still break a slice</a:t>
            </a:r>
          </a:p>
        </p:txBody>
      </p:sp>
      <p:sp>
        <p:nvSpPr>
          <p:cNvPr id="4" name="TextBox 3">
            <a:extLst>
              <a:ext uri="{FF2B5EF4-FFF2-40B4-BE49-F238E27FC236}">
                <a16:creationId xmlns:a16="http://schemas.microsoft.com/office/drawing/2014/main" id="{DF865358-F6B2-975C-8F6E-92925C8C142B}"/>
              </a:ext>
            </a:extLst>
          </p:cNvPr>
          <p:cNvSpPr txBox="1"/>
          <p:nvPr/>
        </p:nvSpPr>
        <p:spPr>
          <a:xfrm>
            <a:off x="762000" y="2540000"/>
            <a:ext cx="9906000" cy="369332"/>
          </a:xfrm>
          <a:prstGeom prst="rect">
            <a:avLst/>
          </a:prstGeom>
          <a:noFill/>
        </p:spPr>
        <p:txBody>
          <a:bodyPr vert="horz" wrap="square" lIns="0" tIns="0" rIns="0" bIns="0" rtlCol="0">
            <a:noAutofit/>
          </a:bodyPr>
          <a:lstStyle/>
          <a:p>
            <a:r>
              <a:rPr lang="en-US">
                <a:solidFill>
                  <a:srgbClr val="C9D6E3"/>
                </a:solidFill>
                <a:latin typeface="Calibri" panose="020F0502020204030204" pitchFamily="34" charset="0"/>
              </a:rPr>
              <a:t>ns-3.48 + 5G-LENA setup, a 3GPP TR 26.926 XR video traffic model, and a first intent-driven slicing scenario</a:t>
            </a:r>
          </a:p>
        </p:txBody>
      </p:sp>
      <p:sp>
        <p:nvSpPr>
          <p:cNvPr id="5" name="SliceA">
            <a:extLst>
              <a:ext uri="{FF2B5EF4-FFF2-40B4-BE49-F238E27FC236}">
                <a16:creationId xmlns:a16="http://schemas.microsoft.com/office/drawing/2014/main" id="{A5308035-8738-CCA8-5C5B-E729E1848482}"/>
              </a:ext>
            </a:extLst>
          </p:cNvPr>
          <p:cNvSpPr/>
          <p:nvPr/>
        </p:nvSpPr>
        <p:spPr>
          <a:xfrm>
            <a:off x="762000" y="3683000"/>
            <a:ext cx="9601200" cy="558800"/>
          </a:xfrm>
          <a:prstGeom prst="roundRect">
            <a:avLst>
              <a:gd name="adj" fmla="val 8000"/>
            </a:avLst>
          </a:prstGeom>
          <a:solidFill>
            <a:srgbClr val="2A78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ceB">
            <a:extLst>
              <a:ext uri="{FF2B5EF4-FFF2-40B4-BE49-F238E27FC236}">
                <a16:creationId xmlns:a16="http://schemas.microsoft.com/office/drawing/2014/main" id="{D84469AA-AB2A-722C-5775-4FC14121DD2F}"/>
              </a:ext>
            </a:extLst>
          </p:cNvPr>
          <p:cNvSpPr/>
          <p:nvPr/>
        </p:nvSpPr>
        <p:spPr>
          <a:xfrm>
            <a:off x="10439400" y="3683000"/>
            <a:ext cx="990600" cy="558800"/>
          </a:xfrm>
          <a:prstGeom prst="roundRect">
            <a:avLst>
              <a:gd name="adj" fmla="val 8000"/>
            </a:avLst>
          </a:prstGeom>
          <a:solidFill>
            <a:srgbClr val="EB68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F3EE652-715B-EB68-3987-D8A0A9A4820A}"/>
              </a:ext>
            </a:extLst>
          </p:cNvPr>
          <p:cNvSpPr txBox="1"/>
          <p:nvPr/>
        </p:nvSpPr>
        <p:spPr>
          <a:xfrm>
            <a:off x="965200" y="3848100"/>
            <a:ext cx="3810000" cy="369332"/>
          </a:xfrm>
          <a:prstGeom prst="rect">
            <a:avLst/>
          </a:prstGeom>
          <a:noFill/>
        </p:spPr>
        <p:txBody>
          <a:bodyPr vert="horz" wrap="square" lIns="0" tIns="0" rIns="0" bIns="0" rtlCol="0">
            <a:noAutofit/>
          </a:bodyPr>
          <a:lstStyle/>
          <a:p>
            <a:r>
              <a:rPr lang="en-US" sz="1500" b="1">
                <a:solidFill>
                  <a:srgbClr val="FFFFFF"/>
                </a:solidFill>
                <a:latin typeface="Calibri" panose="020F0502020204030204" pitchFamily="34" charset="0"/>
              </a:rPr>
              <a:t>slice A  90 %</a:t>
            </a:r>
          </a:p>
        </p:txBody>
      </p:sp>
      <p:sp>
        <p:nvSpPr>
          <p:cNvPr id="8" name="TextBox 7">
            <a:extLst>
              <a:ext uri="{FF2B5EF4-FFF2-40B4-BE49-F238E27FC236}">
                <a16:creationId xmlns:a16="http://schemas.microsoft.com/office/drawing/2014/main" id="{68CF627A-1AC6-7BDD-B8AF-C25CC8D5B5CD}"/>
              </a:ext>
            </a:extLst>
          </p:cNvPr>
          <p:cNvSpPr txBox="1"/>
          <p:nvPr/>
        </p:nvSpPr>
        <p:spPr>
          <a:xfrm>
            <a:off x="10439400" y="3848100"/>
            <a:ext cx="990600" cy="369332"/>
          </a:xfrm>
          <a:prstGeom prst="rect">
            <a:avLst/>
          </a:prstGeom>
          <a:noFill/>
        </p:spPr>
        <p:txBody>
          <a:bodyPr vert="horz" wrap="square" lIns="0" tIns="0" rIns="0" bIns="0" rtlCol="0">
            <a:noAutofit/>
          </a:bodyPr>
          <a:lstStyle/>
          <a:p>
            <a:pPr algn="ctr"/>
            <a:r>
              <a:rPr lang="en-US" sz="1300" b="1">
                <a:solidFill>
                  <a:srgbClr val="FFFFFF"/>
                </a:solidFill>
                <a:latin typeface="Calibri" panose="020F0502020204030204" pitchFamily="34" charset="0"/>
              </a:rPr>
              <a:t>B 10 %</a:t>
            </a:r>
          </a:p>
        </p:txBody>
      </p:sp>
      <p:sp>
        <p:nvSpPr>
          <p:cNvPr id="9" name="TextBox 8">
            <a:extLst>
              <a:ext uri="{FF2B5EF4-FFF2-40B4-BE49-F238E27FC236}">
                <a16:creationId xmlns:a16="http://schemas.microsoft.com/office/drawing/2014/main" id="{530BB90B-F975-1D3F-67E6-A873927D3E9C}"/>
              </a:ext>
            </a:extLst>
          </p:cNvPr>
          <p:cNvSpPr txBox="1"/>
          <p:nvPr/>
        </p:nvSpPr>
        <p:spPr>
          <a:xfrm>
            <a:off x="762000" y="4318000"/>
            <a:ext cx="5080000" cy="369332"/>
          </a:xfrm>
          <a:prstGeom prst="rect">
            <a:avLst/>
          </a:prstGeom>
          <a:noFill/>
        </p:spPr>
        <p:txBody>
          <a:bodyPr vert="horz" wrap="square" lIns="0" tIns="0" rIns="0" bIns="0" rtlCol="0">
            <a:noAutofit/>
          </a:bodyPr>
          <a:lstStyle/>
          <a:p>
            <a:r>
              <a:rPr lang="en-US" sz="1200">
                <a:solidFill>
                  <a:srgbClr val="C9D6E3"/>
                </a:solidFill>
                <a:latin typeface="Calibri" panose="020F0502020204030204" pitchFamily="34" charset="0"/>
              </a:rPr>
              <a:t>one 100 MHz carrier, split by an intent</a:t>
            </a:r>
          </a:p>
        </p:txBody>
      </p:sp>
      <p:sp>
        <p:nvSpPr>
          <p:cNvPr id="10" name="TextBox 9">
            <a:extLst>
              <a:ext uri="{FF2B5EF4-FFF2-40B4-BE49-F238E27FC236}">
                <a16:creationId xmlns:a16="http://schemas.microsoft.com/office/drawing/2014/main" id="{B35D28BC-8059-B69C-0CA8-CF7E9A8616EC}"/>
              </a:ext>
            </a:extLst>
          </p:cNvPr>
          <p:cNvSpPr txBox="1"/>
          <p:nvPr/>
        </p:nvSpPr>
        <p:spPr>
          <a:xfrm>
            <a:off x="762000" y="5969000"/>
            <a:ext cx="10668000" cy="369332"/>
          </a:xfrm>
          <a:prstGeom prst="rect">
            <a:avLst/>
          </a:prstGeom>
          <a:noFill/>
        </p:spPr>
        <p:txBody>
          <a:bodyPr vert="horz" wrap="square" lIns="0" tIns="0" rIns="0" bIns="0" rtlCol="0">
            <a:noAutofit/>
          </a:bodyPr>
          <a:lstStyle/>
          <a:p>
            <a:r>
              <a:rPr lang="en-US" sz="1400">
                <a:solidFill>
                  <a:srgbClr val="C9D6E3"/>
                </a:solidFill>
                <a:latin typeface="Calibri" panose="020F0502020204030204" pitchFamily="34" charset="0"/>
              </a:rPr>
              <a:t>Petrajoy Davidson  |  M11502803  |  Advanced path: IBN for O-RAN slicing  |  2026/10/20</a:t>
            </a:r>
          </a:p>
        </p:txBody>
      </p:sp>
    </p:spTree>
    <p:extLst>
      <p:ext uri="{BB962C8B-B14F-4D97-AF65-F5344CB8AC3E}">
        <p14:creationId xmlns:p14="http://schemas.microsoft.com/office/powerpoint/2010/main" val="2456745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889128E-F9F8-794E-DA21-C8C53BC88FA7}"/>
              </a:ext>
            </a:extLst>
          </p:cNvPr>
          <p:cNvSpPr txBox="1"/>
          <p:nvPr/>
        </p:nvSpPr>
        <p:spPr>
          <a:xfrm>
            <a:off x="508000" y="330200"/>
            <a:ext cx="11176000" cy="369332"/>
          </a:xfrm>
          <a:prstGeom prst="rect">
            <a:avLst/>
          </a:prstGeom>
          <a:noFill/>
        </p:spPr>
        <p:txBody>
          <a:bodyPr vert="horz" wrap="square" lIns="0" tIns="0" rIns="0" bIns="0" rtlCol="0">
            <a:noAutofit/>
          </a:bodyPr>
          <a:lstStyle/>
          <a:p>
            <a:r>
              <a:rPr lang="en-US" sz="3000" b="1">
                <a:solidFill>
                  <a:srgbClr val="13293D"/>
                </a:solidFill>
                <a:latin typeface="Cambria" panose="02040503050406030204" pitchFamily="18" charset="0"/>
              </a:rPr>
              <a:t>Does "it fits" mean "it is safe"?</a:t>
            </a:r>
          </a:p>
        </p:txBody>
      </p:sp>
      <p:sp>
        <p:nvSpPr>
          <p:cNvPr id="3" name="Rectangle: Rounded Corners 2">
            <a:extLst>
              <a:ext uri="{FF2B5EF4-FFF2-40B4-BE49-F238E27FC236}">
                <a16:creationId xmlns:a16="http://schemas.microsoft.com/office/drawing/2014/main" id="{2DAE3284-606C-59FA-2172-19ACE58FB79B}"/>
              </a:ext>
            </a:extLst>
          </p:cNvPr>
          <p:cNvSpPr/>
          <p:nvPr/>
        </p:nvSpPr>
        <p:spPr>
          <a:xfrm>
            <a:off x="508000" y="1524000"/>
            <a:ext cx="2489200" cy="2032000"/>
          </a:xfrm>
          <a:prstGeom prst="roundRect">
            <a:avLst>
              <a:gd name="adj" fmla="val 8000"/>
            </a:avLst>
          </a:prstGeom>
          <a:solidFill>
            <a:srgbClr val="EEF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C2CD7C8-BA11-592C-F083-927A5FA1EBA3}"/>
              </a:ext>
            </a:extLst>
          </p:cNvPr>
          <p:cNvSpPr txBox="1"/>
          <p:nvPr/>
        </p:nvSpPr>
        <p:spPr>
          <a:xfrm>
            <a:off x="711200" y="1752600"/>
            <a:ext cx="2082800" cy="369332"/>
          </a:xfrm>
          <a:prstGeom prst="rect">
            <a:avLst/>
          </a:prstGeom>
          <a:noFill/>
        </p:spPr>
        <p:txBody>
          <a:bodyPr vert="horz" wrap="square" lIns="0" tIns="0" rIns="0" bIns="0" rtlCol="0">
            <a:noAutofit/>
          </a:bodyPr>
          <a:lstStyle/>
          <a:p>
            <a:r>
              <a:rPr lang="en-US" sz="1300" b="1">
                <a:solidFill>
                  <a:srgbClr val="2A78D6"/>
                </a:solidFill>
                <a:latin typeface="Calibri" panose="020F0502020204030204" pitchFamily="34" charset="0"/>
              </a:rPr>
              <a:t>1  INTENT</a:t>
            </a:r>
          </a:p>
        </p:txBody>
      </p:sp>
      <p:sp>
        <p:nvSpPr>
          <p:cNvPr id="5" name="TextBox 4">
            <a:extLst>
              <a:ext uri="{FF2B5EF4-FFF2-40B4-BE49-F238E27FC236}">
                <a16:creationId xmlns:a16="http://schemas.microsoft.com/office/drawing/2014/main" id="{A4B3C20C-A576-B167-C6ED-616F4C0C4E1F}"/>
              </a:ext>
            </a:extLst>
          </p:cNvPr>
          <p:cNvSpPr txBox="1"/>
          <p:nvPr/>
        </p:nvSpPr>
        <p:spPr>
          <a:xfrm>
            <a:off x="711200" y="2108200"/>
            <a:ext cx="2082800" cy="369332"/>
          </a:xfrm>
          <a:prstGeom prst="rect">
            <a:avLst/>
          </a:prstGeom>
          <a:noFill/>
        </p:spPr>
        <p:txBody>
          <a:bodyPr vert="horz" wrap="square" lIns="0" tIns="0" rIns="0" bIns="0" rtlCol="0">
            <a:noAutofit/>
          </a:bodyPr>
          <a:lstStyle/>
          <a:p>
            <a:r>
              <a:rPr lang="en-US" sz="1700">
                <a:solidFill>
                  <a:srgbClr val="13293D"/>
                </a:solidFill>
                <a:latin typeface="Calibri" panose="020F0502020204030204" pitchFamily="34" charset="0"/>
              </a:rPr>
              <a:t>"Give the video slice 90 % of the carrier"</a:t>
            </a:r>
          </a:p>
        </p:txBody>
      </p:sp>
      <p:sp>
        <p:nvSpPr>
          <p:cNvPr id="6" name="Arrow: Right 5">
            <a:extLst>
              <a:ext uri="{FF2B5EF4-FFF2-40B4-BE49-F238E27FC236}">
                <a16:creationId xmlns:a16="http://schemas.microsoft.com/office/drawing/2014/main" id="{E7B0F687-F1F4-FB59-36D0-1DA4A5199095}"/>
              </a:ext>
            </a:extLst>
          </p:cNvPr>
          <p:cNvSpPr/>
          <p:nvPr/>
        </p:nvSpPr>
        <p:spPr>
          <a:xfrm>
            <a:off x="3073400" y="2400300"/>
            <a:ext cx="254000" cy="279400"/>
          </a:xfrm>
          <a:prstGeom prst="rightArrow">
            <a:avLst/>
          </a:prstGeom>
          <a:solidFill>
            <a:srgbClr val="52514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07DF00C8-1254-15B5-FC28-74F1C6C741CD}"/>
              </a:ext>
            </a:extLst>
          </p:cNvPr>
          <p:cNvSpPr/>
          <p:nvPr/>
        </p:nvSpPr>
        <p:spPr>
          <a:xfrm>
            <a:off x="3403600" y="1524000"/>
            <a:ext cx="2489200" cy="2032000"/>
          </a:xfrm>
          <a:prstGeom prst="roundRect">
            <a:avLst>
              <a:gd name="adj" fmla="val 8000"/>
            </a:avLst>
          </a:prstGeom>
          <a:solidFill>
            <a:srgbClr val="EEF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36C9FFA-CC24-4255-8CB7-535E5156D693}"/>
              </a:ext>
            </a:extLst>
          </p:cNvPr>
          <p:cNvSpPr txBox="1"/>
          <p:nvPr/>
        </p:nvSpPr>
        <p:spPr>
          <a:xfrm>
            <a:off x="3606800" y="1752600"/>
            <a:ext cx="2082800" cy="369332"/>
          </a:xfrm>
          <a:prstGeom prst="rect">
            <a:avLst/>
          </a:prstGeom>
          <a:noFill/>
        </p:spPr>
        <p:txBody>
          <a:bodyPr vert="horz" wrap="square" lIns="0" tIns="0" rIns="0" bIns="0" rtlCol="0">
            <a:noAutofit/>
          </a:bodyPr>
          <a:lstStyle/>
          <a:p>
            <a:r>
              <a:rPr lang="en-US" sz="1300" b="1">
                <a:solidFill>
                  <a:srgbClr val="2A78D6"/>
                </a:solidFill>
                <a:latin typeface="Calibri" panose="020F0502020204030204" pitchFamily="34" charset="0"/>
              </a:rPr>
              <a:t>2  CAPACITY CHECK</a:t>
            </a:r>
          </a:p>
        </p:txBody>
      </p:sp>
      <p:sp>
        <p:nvSpPr>
          <p:cNvPr id="9" name="TextBox 8">
            <a:extLst>
              <a:ext uri="{FF2B5EF4-FFF2-40B4-BE49-F238E27FC236}">
                <a16:creationId xmlns:a16="http://schemas.microsoft.com/office/drawing/2014/main" id="{B13797FE-85FF-E544-8D3B-3D6BEB4B2135}"/>
              </a:ext>
            </a:extLst>
          </p:cNvPr>
          <p:cNvSpPr txBox="1"/>
          <p:nvPr/>
        </p:nvSpPr>
        <p:spPr>
          <a:xfrm>
            <a:off x="3606800" y="2108200"/>
            <a:ext cx="2082800" cy="369332"/>
          </a:xfrm>
          <a:prstGeom prst="rect">
            <a:avLst/>
          </a:prstGeom>
          <a:noFill/>
        </p:spPr>
        <p:txBody>
          <a:bodyPr vert="horz" wrap="square" lIns="0" tIns="0" rIns="0" bIns="0" rtlCol="0">
            <a:noAutofit/>
          </a:bodyPr>
          <a:lstStyle/>
          <a:p>
            <a:r>
              <a:rPr lang="en-US" sz="1700">
                <a:solidFill>
                  <a:srgbClr val="13293D"/>
                </a:solidFill>
                <a:latin typeface="Calibri" panose="020F0502020204030204" pitchFamily="34" charset="0"/>
              </a:rPr>
              <a:t>Shares add up to 100 % and every slice keeps some RBs:  ACCEPT</a:t>
            </a:r>
          </a:p>
        </p:txBody>
      </p:sp>
      <p:sp>
        <p:nvSpPr>
          <p:cNvPr id="10" name="Arrow: Right 9">
            <a:extLst>
              <a:ext uri="{FF2B5EF4-FFF2-40B4-BE49-F238E27FC236}">
                <a16:creationId xmlns:a16="http://schemas.microsoft.com/office/drawing/2014/main" id="{32267E84-C289-2E2A-AAA1-AE0C0C1DDAA0}"/>
              </a:ext>
            </a:extLst>
          </p:cNvPr>
          <p:cNvSpPr/>
          <p:nvPr/>
        </p:nvSpPr>
        <p:spPr>
          <a:xfrm>
            <a:off x="5969000" y="2400300"/>
            <a:ext cx="254000" cy="279400"/>
          </a:xfrm>
          <a:prstGeom prst="rightArrow">
            <a:avLst/>
          </a:prstGeom>
          <a:solidFill>
            <a:srgbClr val="52514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767C912C-14CA-8C0F-262F-AE77BF769C79}"/>
              </a:ext>
            </a:extLst>
          </p:cNvPr>
          <p:cNvSpPr/>
          <p:nvPr/>
        </p:nvSpPr>
        <p:spPr>
          <a:xfrm>
            <a:off x="6299200" y="1524000"/>
            <a:ext cx="2489200" cy="2032000"/>
          </a:xfrm>
          <a:prstGeom prst="roundRect">
            <a:avLst>
              <a:gd name="adj" fmla="val 8000"/>
            </a:avLst>
          </a:prstGeom>
          <a:solidFill>
            <a:srgbClr val="EEF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0B47E20-D127-56DB-F321-5B247E22CB57}"/>
              </a:ext>
            </a:extLst>
          </p:cNvPr>
          <p:cNvSpPr txBox="1"/>
          <p:nvPr/>
        </p:nvSpPr>
        <p:spPr>
          <a:xfrm>
            <a:off x="6502400" y="1752600"/>
            <a:ext cx="2082800" cy="369332"/>
          </a:xfrm>
          <a:prstGeom prst="rect">
            <a:avLst/>
          </a:prstGeom>
          <a:noFill/>
        </p:spPr>
        <p:txBody>
          <a:bodyPr vert="horz" wrap="square" lIns="0" tIns="0" rIns="0" bIns="0" rtlCol="0">
            <a:noAutofit/>
          </a:bodyPr>
          <a:lstStyle/>
          <a:p>
            <a:r>
              <a:rPr lang="en-US" sz="1300" b="1">
                <a:solidFill>
                  <a:srgbClr val="2A78D6"/>
                </a:solidFill>
                <a:latin typeface="Calibri" panose="020F0502020204030204" pitchFamily="34" charset="0"/>
              </a:rPr>
              <a:t>3  ENACT</a:t>
            </a:r>
          </a:p>
        </p:txBody>
      </p:sp>
      <p:sp>
        <p:nvSpPr>
          <p:cNvPr id="13" name="TextBox 12">
            <a:extLst>
              <a:ext uri="{FF2B5EF4-FFF2-40B4-BE49-F238E27FC236}">
                <a16:creationId xmlns:a16="http://schemas.microsoft.com/office/drawing/2014/main" id="{4D74A25E-5C4B-9466-399F-746D74EC4DC2}"/>
              </a:ext>
            </a:extLst>
          </p:cNvPr>
          <p:cNvSpPr txBox="1"/>
          <p:nvPr/>
        </p:nvSpPr>
        <p:spPr>
          <a:xfrm>
            <a:off x="6502400" y="2108200"/>
            <a:ext cx="2082800" cy="369332"/>
          </a:xfrm>
          <a:prstGeom prst="rect">
            <a:avLst/>
          </a:prstGeom>
          <a:noFill/>
        </p:spPr>
        <p:txBody>
          <a:bodyPr vert="horz" wrap="square" lIns="0" tIns="0" rIns="0" bIns="0" rtlCol="0">
            <a:noAutofit/>
          </a:bodyPr>
          <a:lstStyle/>
          <a:p>
            <a:r>
              <a:rPr lang="en-US" sz="1700">
                <a:solidFill>
                  <a:srgbClr val="13293D"/>
                </a:solidFill>
                <a:latin typeface="Calibri" panose="020F0502020204030204" pitchFamily="34" charset="0"/>
              </a:rPr>
              <a:t>Bandwidth parts reconfigured: 90 MHz / 10 MHz</a:t>
            </a:r>
          </a:p>
        </p:txBody>
      </p:sp>
      <p:sp>
        <p:nvSpPr>
          <p:cNvPr id="14" name="Arrow: Right 13">
            <a:extLst>
              <a:ext uri="{FF2B5EF4-FFF2-40B4-BE49-F238E27FC236}">
                <a16:creationId xmlns:a16="http://schemas.microsoft.com/office/drawing/2014/main" id="{0172C9AC-0083-D96B-C811-AC83ADD3AADA}"/>
              </a:ext>
            </a:extLst>
          </p:cNvPr>
          <p:cNvSpPr/>
          <p:nvPr/>
        </p:nvSpPr>
        <p:spPr>
          <a:xfrm>
            <a:off x="8864600" y="2400300"/>
            <a:ext cx="254000" cy="279400"/>
          </a:xfrm>
          <a:prstGeom prst="rightArrow">
            <a:avLst/>
          </a:prstGeom>
          <a:solidFill>
            <a:srgbClr val="52514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71B95335-0F71-4861-41F6-56D92C62DD92}"/>
              </a:ext>
            </a:extLst>
          </p:cNvPr>
          <p:cNvSpPr/>
          <p:nvPr/>
        </p:nvSpPr>
        <p:spPr>
          <a:xfrm>
            <a:off x="9194800" y="1524000"/>
            <a:ext cx="2489200" cy="2032000"/>
          </a:xfrm>
          <a:prstGeom prst="roundRect">
            <a:avLst>
              <a:gd name="adj" fmla="val 8000"/>
            </a:avLst>
          </a:prstGeom>
          <a:solidFill>
            <a:srgbClr val="FDEBE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3FE640B-EAC8-EA2D-025A-A01E34461676}"/>
              </a:ext>
            </a:extLst>
          </p:cNvPr>
          <p:cNvSpPr txBox="1"/>
          <p:nvPr/>
        </p:nvSpPr>
        <p:spPr>
          <a:xfrm>
            <a:off x="9398000" y="1752600"/>
            <a:ext cx="2082800" cy="369332"/>
          </a:xfrm>
          <a:prstGeom prst="rect">
            <a:avLst/>
          </a:prstGeom>
          <a:noFill/>
        </p:spPr>
        <p:txBody>
          <a:bodyPr vert="horz" wrap="square" lIns="0" tIns="0" rIns="0" bIns="0" rtlCol="0">
            <a:noAutofit/>
          </a:bodyPr>
          <a:lstStyle/>
          <a:p>
            <a:r>
              <a:rPr lang="en-US" sz="1300" b="1">
                <a:solidFill>
                  <a:srgbClr val="EB6834"/>
                </a:solidFill>
                <a:latin typeface="Calibri" panose="020F0502020204030204" pitchFamily="34" charset="0"/>
              </a:rPr>
              <a:t>4  SLICE B QoS</a:t>
            </a:r>
          </a:p>
        </p:txBody>
      </p:sp>
      <p:sp>
        <p:nvSpPr>
          <p:cNvPr id="17" name="TextBox 16">
            <a:extLst>
              <a:ext uri="{FF2B5EF4-FFF2-40B4-BE49-F238E27FC236}">
                <a16:creationId xmlns:a16="http://schemas.microsoft.com/office/drawing/2014/main" id="{94194506-54C6-C207-7D97-1DCAB7BD3A25}"/>
              </a:ext>
            </a:extLst>
          </p:cNvPr>
          <p:cNvSpPr txBox="1"/>
          <p:nvPr/>
        </p:nvSpPr>
        <p:spPr>
          <a:xfrm>
            <a:off x="9398000" y="2108200"/>
            <a:ext cx="2082800" cy="369332"/>
          </a:xfrm>
          <a:prstGeom prst="rect">
            <a:avLst/>
          </a:prstGeom>
          <a:noFill/>
        </p:spPr>
        <p:txBody>
          <a:bodyPr vert="horz" wrap="square" lIns="0" tIns="0" rIns="0" bIns="0" rtlCol="0">
            <a:noAutofit/>
          </a:bodyPr>
          <a:lstStyle/>
          <a:p>
            <a:r>
              <a:rPr lang="en-US" sz="1700">
                <a:solidFill>
                  <a:srgbClr val="13293D"/>
                </a:solidFill>
                <a:latin typeface="Calibri" panose="020F0502020204030204" pitchFamily="34" charset="0"/>
              </a:rPr>
              <a:t>Still within its SLA?</a:t>
            </a:r>
          </a:p>
        </p:txBody>
      </p:sp>
      <p:sp>
        <p:nvSpPr>
          <p:cNvPr id="18" name="TextBox 17">
            <a:extLst>
              <a:ext uri="{FF2B5EF4-FFF2-40B4-BE49-F238E27FC236}">
                <a16:creationId xmlns:a16="http://schemas.microsoft.com/office/drawing/2014/main" id="{E6CE1D4F-1017-FCAF-1BA1-8158E6E56941}"/>
              </a:ext>
            </a:extLst>
          </p:cNvPr>
          <p:cNvSpPr txBox="1"/>
          <p:nvPr/>
        </p:nvSpPr>
        <p:spPr>
          <a:xfrm>
            <a:off x="9398000" y="2616200"/>
            <a:ext cx="2082800" cy="369332"/>
          </a:xfrm>
          <a:prstGeom prst="rect">
            <a:avLst/>
          </a:prstGeom>
          <a:noFill/>
        </p:spPr>
        <p:txBody>
          <a:bodyPr vert="horz" wrap="square" lIns="0" tIns="0" rIns="0" bIns="0" rtlCol="0">
            <a:noAutofit/>
          </a:bodyPr>
          <a:lstStyle/>
          <a:p>
            <a:r>
              <a:rPr lang="en-US" sz="4800" b="1">
                <a:solidFill>
                  <a:srgbClr val="EB6834"/>
                </a:solidFill>
                <a:latin typeface="Cambria" panose="02040503050406030204" pitchFamily="18" charset="0"/>
              </a:rPr>
              <a:t>?</a:t>
            </a:r>
          </a:p>
        </p:txBody>
      </p:sp>
      <p:sp>
        <p:nvSpPr>
          <p:cNvPr id="19" name="TextBox 18">
            <a:extLst>
              <a:ext uri="{FF2B5EF4-FFF2-40B4-BE49-F238E27FC236}">
                <a16:creationId xmlns:a16="http://schemas.microsoft.com/office/drawing/2014/main" id="{741B57C7-861C-EE0E-9DAD-AAE7C4441CA4}"/>
              </a:ext>
            </a:extLst>
          </p:cNvPr>
          <p:cNvSpPr txBox="1"/>
          <p:nvPr/>
        </p:nvSpPr>
        <p:spPr>
          <a:xfrm>
            <a:off x="508000" y="3937000"/>
            <a:ext cx="11176000" cy="369332"/>
          </a:xfrm>
          <a:prstGeom prst="rect">
            <a:avLst/>
          </a:prstGeom>
          <a:noFill/>
        </p:spPr>
        <p:txBody>
          <a:bodyPr vert="horz" wrap="square" lIns="0" tIns="0" rIns="0" bIns="0" rtlCol="0">
            <a:noAutofit/>
          </a:bodyPr>
          <a:lstStyle/>
          <a:p>
            <a:r>
              <a:rPr lang="en-US" sz="1600">
                <a:solidFill>
                  <a:srgbClr val="52514E"/>
                </a:solidFill>
                <a:latin typeface="Calibri" panose="020F0502020204030204" pitchFamily="34" charset="0"/>
              </a:rPr>
              <a:t>No human in the loop: steps 1 to 3 run automatically.</a:t>
            </a:r>
          </a:p>
        </p:txBody>
      </p:sp>
      <p:sp>
        <p:nvSpPr>
          <p:cNvPr id="20" name="TextBox 19">
            <a:extLst>
              <a:ext uri="{FF2B5EF4-FFF2-40B4-BE49-F238E27FC236}">
                <a16:creationId xmlns:a16="http://schemas.microsoft.com/office/drawing/2014/main" id="{6C9CA996-D907-7D2B-EB4C-73428B1CAD2F}"/>
              </a:ext>
            </a:extLst>
          </p:cNvPr>
          <p:cNvSpPr txBox="1"/>
          <p:nvPr/>
        </p:nvSpPr>
        <p:spPr>
          <a:xfrm>
            <a:off x="508000" y="4419600"/>
            <a:ext cx="11176000" cy="369332"/>
          </a:xfrm>
          <a:prstGeom prst="rect">
            <a:avLst/>
          </a:prstGeom>
          <a:noFill/>
        </p:spPr>
        <p:txBody>
          <a:bodyPr vert="horz" wrap="square" lIns="0" tIns="0" rIns="0" bIns="0" rtlCol="0">
            <a:noAutofit/>
          </a:bodyPr>
          <a:lstStyle/>
          <a:p>
            <a:r>
              <a:rPr lang="en-US" sz="2000" b="1">
                <a:solidFill>
                  <a:srgbClr val="13293D"/>
                </a:solidFill>
                <a:latin typeface="Calibri" panose="020F0502020204030204" pitchFamily="34" charset="0"/>
              </a:rPr>
              <a:t>Today's feasibility check stops at step 2. In A2 I built this whole loop in ns-3, so step 4 is measured, not assumed.</a:t>
            </a:r>
          </a:p>
        </p:txBody>
      </p:sp>
      <p:sp>
        <p:nvSpPr>
          <p:cNvPr id="21" name="TextBox 20">
            <a:extLst>
              <a:ext uri="{FF2B5EF4-FFF2-40B4-BE49-F238E27FC236}">
                <a16:creationId xmlns:a16="http://schemas.microsoft.com/office/drawing/2014/main" id="{505A4E9F-5ECE-2D03-2615-8B9C7AD541BA}"/>
              </a:ext>
            </a:extLst>
          </p:cNvPr>
          <p:cNvSpPr txBox="1"/>
          <p:nvPr/>
        </p:nvSpPr>
        <p:spPr>
          <a:xfrm>
            <a:off x="508000" y="6451600"/>
            <a:ext cx="6350000" cy="369332"/>
          </a:xfrm>
          <a:prstGeom prst="rect">
            <a:avLst/>
          </a:prstGeom>
          <a:noFill/>
        </p:spPr>
        <p:txBody>
          <a:bodyPr vert="horz" wrap="square" lIns="0" tIns="0" rIns="0" bIns="0" rtlCol="0">
            <a:noAutofit/>
          </a:bodyPr>
          <a:lstStyle/>
          <a:p>
            <a:r>
              <a:rPr lang="en-US" sz="1000">
                <a:solidFill>
                  <a:srgbClr val="52514E"/>
                </a:solidFill>
                <a:latin typeface="Calibri" panose="020F0502020204030204" pitchFamily="34" charset="0"/>
              </a:rPr>
              <a:t>Petrajoy Davidson  |  A2: ns-3 Setup &amp; Traffic Model</a:t>
            </a:r>
          </a:p>
        </p:txBody>
      </p:sp>
      <p:sp>
        <p:nvSpPr>
          <p:cNvPr id="22" name="TextBox 21">
            <a:extLst>
              <a:ext uri="{FF2B5EF4-FFF2-40B4-BE49-F238E27FC236}">
                <a16:creationId xmlns:a16="http://schemas.microsoft.com/office/drawing/2014/main" id="{16CD761D-73C8-B1BB-423E-6F687226E3DB}"/>
              </a:ext>
            </a:extLst>
          </p:cNvPr>
          <p:cNvSpPr txBox="1"/>
          <p:nvPr/>
        </p:nvSpPr>
        <p:spPr>
          <a:xfrm>
            <a:off x="10414000" y="6451600"/>
            <a:ext cx="1270000" cy="369332"/>
          </a:xfrm>
          <a:prstGeom prst="rect">
            <a:avLst/>
          </a:prstGeom>
          <a:noFill/>
        </p:spPr>
        <p:txBody>
          <a:bodyPr vert="horz" wrap="square" lIns="0" tIns="0" rIns="0" bIns="0" rtlCol="0">
            <a:noAutofit/>
          </a:bodyPr>
          <a:lstStyle/>
          <a:p>
            <a:pPr algn="r"/>
            <a:r>
              <a:rPr lang="en-US" sz="1000">
                <a:solidFill>
                  <a:srgbClr val="52514E"/>
                </a:solidFill>
                <a:latin typeface="Calibri" panose="020F0502020204030204" pitchFamily="34" charset="0"/>
              </a:rPr>
              <a:t>2 / 10</a:t>
            </a:r>
          </a:p>
        </p:txBody>
      </p:sp>
    </p:spTree>
    <p:extLst>
      <p:ext uri="{BB962C8B-B14F-4D97-AF65-F5344CB8AC3E}">
        <p14:creationId xmlns:p14="http://schemas.microsoft.com/office/powerpoint/2010/main" val="3756666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D8A107F-427B-4444-3715-FE69D177CAE1}"/>
              </a:ext>
            </a:extLst>
          </p:cNvPr>
          <p:cNvSpPr txBox="1"/>
          <p:nvPr/>
        </p:nvSpPr>
        <p:spPr>
          <a:xfrm>
            <a:off x="508000" y="330200"/>
            <a:ext cx="11176000" cy="369332"/>
          </a:xfrm>
          <a:prstGeom prst="rect">
            <a:avLst/>
          </a:prstGeom>
          <a:noFill/>
        </p:spPr>
        <p:txBody>
          <a:bodyPr vert="horz" wrap="square" lIns="0" tIns="0" rIns="0" bIns="0" rtlCol="0">
            <a:noAutofit/>
          </a:bodyPr>
          <a:lstStyle/>
          <a:p>
            <a:r>
              <a:rPr lang="en-US" sz="3000" b="1">
                <a:solidFill>
                  <a:srgbClr val="13293D"/>
                </a:solidFill>
                <a:latin typeface="Cambria" panose="02040503050406030204" pitchFamily="18" charset="0"/>
              </a:rPr>
              <a:t>Setup: ns-3.48 + 5G-LENA v5.1 on my lab VM</a:t>
            </a:r>
          </a:p>
        </p:txBody>
      </p:sp>
      <p:sp>
        <p:nvSpPr>
          <p:cNvPr id="3" name="Rectangle: Rounded Corners 2">
            <a:extLst>
              <a:ext uri="{FF2B5EF4-FFF2-40B4-BE49-F238E27FC236}">
                <a16:creationId xmlns:a16="http://schemas.microsoft.com/office/drawing/2014/main" id="{19134F5B-213B-0FD1-536E-5113A0492753}"/>
              </a:ext>
            </a:extLst>
          </p:cNvPr>
          <p:cNvSpPr/>
          <p:nvPr/>
        </p:nvSpPr>
        <p:spPr>
          <a:xfrm>
            <a:off x="508000" y="1168400"/>
            <a:ext cx="4191000" cy="5029200"/>
          </a:xfrm>
          <a:prstGeom prst="roundRect">
            <a:avLst>
              <a:gd name="adj" fmla="val 8000"/>
            </a:avLst>
          </a:prstGeom>
          <a:solidFill>
            <a:srgbClr val="EEF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74E5907-4E2C-5DBB-35F1-039F10D40EA7}"/>
              </a:ext>
            </a:extLst>
          </p:cNvPr>
          <p:cNvSpPr txBox="1"/>
          <p:nvPr/>
        </p:nvSpPr>
        <p:spPr>
          <a:xfrm>
            <a:off x="762000" y="1397000"/>
            <a:ext cx="3683000" cy="369332"/>
          </a:xfrm>
          <a:prstGeom prst="rect">
            <a:avLst/>
          </a:prstGeom>
          <a:noFill/>
        </p:spPr>
        <p:txBody>
          <a:bodyPr vert="horz" wrap="square" lIns="0" tIns="0" rIns="0" bIns="0" rtlCol="0">
            <a:noAutofit/>
          </a:bodyPr>
          <a:lstStyle/>
          <a:p>
            <a:r>
              <a:rPr lang="en-US" sz="1300" b="1">
                <a:solidFill>
                  <a:srgbClr val="2A78D6"/>
                </a:solidFill>
                <a:latin typeface="Calibri" panose="020F0502020204030204" pitchFamily="34" charset="0"/>
              </a:rPr>
              <a:t>PLATFORM</a:t>
            </a:r>
          </a:p>
        </p:txBody>
      </p:sp>
      <p:sp>
        <p:nvSpPr>
          <p:cNvPr id="5" name="TextBox 4">
            <a:extLst>
              <a:ext uri="{FF2B5EF4-FFF2-40B4-BE49-F238E27FC236}">
                <a16:creationId xmlns:a16="http://schemas.microsoft.com/office/drawing/2014/main" id="{65E1E1D7-C101-DEFF-A34F-C5273B2E3690}"/>
              </a:ext>
            </a:extLst>
          </p:cNvPr>
          <p:cNvSpPr txBox="1"/>
          <p:nvPr/>
        </p:nvSpPr>
        <p:spPr>
          <a:xfrm>
            <a:off x="762000" y="1727200"/>
            <a:ext cx="3683000" cy="369332"/>
          </a:xfrm>
          <a:prstGeom prst="rect">
            <a:avLst/>
          </a:prstGeom>
          <a:noFill/>
        </p:spPr>
        <p:txBody>
          <a:bodyPr vert="horz" wrap="square" lIns="0" tIns="0" rIns="0" bIns="0" rtlCol="0">
            <a:noAutofit/>
          </a:bodyPr>
          <a:lstStyle/>
          <a:p>
            <a:r>
              <a:rPr lang="en-US" sz="1500">
                <a:solidFill>
                  <a:srgbClr val="13293D"/>
                </a:solidFill>
                <a:latin typeface="Calibri" panose="020F0502020204030204" pitchFamily="34" charset="0"/>
              </a:rPr>
              <a:t>ns-3.48  +  5G-LENA 5g-lena-v5.1.y</a:t>
            </a:r>
          </a:p>
          <a:p>
            <a:r>
              <a:rPr lang="en-US" sz="1500">
                <a:solidFill>
                  <a:srgbClr val="13293D"/>
                </a:solidFill>
                <a:latin typeface="Calibri" panose="020F0502020204030204" pitchFamily="34" charset="0"/>
              </a:rPr>
              <a:t>Ubuntu 22.04.4 VM, 8 vCPU, 16 GiB</a:t>
            </a:r>
          </a:p>
          <a:p>
            <a:r>
              <a:rPr lang="en-US" sz="1500">
                <a:solidFill>
                  <a:srgbClr val="13293D"/>
                </a:solidFill>
                <a:latin typeface="Calibri" panose="020F0502020204030204" pitchFamily="34" charset="0"/>
              </a:rPr>
              <a:t>g++ 11.4  |  CMake 3.31.6  |  Python 3.10</a:t>
            </a:r>
          </a:p>
          <a:p>
            <a:r>
              <a:rPr lang="en-US" sz="1500">
                <a:solidFill>
                  <a:srgbClr val="13293D"/>
                </a:solidFill>
                <a:latin typeface="Calibri" panose="020F0502020204030204" pitchFamily="34" charset="0"/>
              </a:rPr>
              <a:t>examples + tests, -j4</a:t>
            </a:r>
          </a:p>
        </p:txBody>
      </p:sp>
      <p:sp>
        <p:nvSpPr>
          <p:cNvPr id="6" name="TextBox 5">
            <a:extLst>
              <a:ext uri="{FF2B5EF4-FFF2-40B4-BE49-F238E27FC236}">
                <a16:creationId xmlns:a16="http://schemas.microsoft.com/office/drawing/2014/main" id="{A8F80E36-E82E-4906-1EDE-8604844653AF}"/>
              </a:ext>
            </a:extLst>
          </p:cNvPr>
          <p:cNvSpPr txBox="1"/>
          <p:nvPr/>
        </p:nvSpPr>
        <p:spPr>
          <a:xfrm>
            <a:off x="762000" y="3683000"/>
            <a:ext cx="3683000" cy="369332"/>
          </a:xfrm>
          <a:prstGeom prst="rect">
            <a:avLst/>
          </a:prstGeom>
          <a:noFill/>
        </p:spPr>
        <p:txBody>
          <a:bodyPr vert="horz" wrap="square" lIns="0" tIns="0" rIns="0" bIns="0" rtlCol="0">
            <a:noAutofit/>
          </a:bodyPr>
          <a:lstStyle/>
          <a:p>
            <a:r>
              <a:rPr lang="en-US" sz="5400" b="1">
                <a:solidFill>
                  <a:srgbClr val="13293D"/>
                </a:solidFill>
                <a:latin typeface="Cambria" panose="02040503050406030204" pitchFamily="18" charset="0"/>
              </a:rPr>
              <a:t>53 min</a:t>
            </a:r>
          </a:p>
        </p:txBody>
      </p:sp>
      <p:sp>
        <p:nvSpPr>
          <p:cNvPr id="7" name="TextBox 6">
            <a:extLst>
              <a:ext uri="{FF2B5EF4-FFF2-40B4-BE49-F238E27FC236}">
                <a16:creationId xmlns:a16="http://schemas.microsoft.com/office/drawing/2014/main" id="{719C6900-22CC-B1C3-DEC9-D9AA17D8CA5F}"/>
              </a:ext>
            </a:extLst>
          </p:cNvPr>
          <p:cNvSpPr txBox="1"/>
          <p:nvPr/>
        </p:nvSpPr>
        <p:spPr>
          <a:xfrm>
            <a:off x="762000" y="4597400"/>
            <a:ext cx="3556000" cy="369332"/>
          </a:xfrm>
          <a:prstGeom prst="rect">
            <a:avLst/>
          </a:prstGeom>
          <a:noFill/>
        </p:spPr>
        <p:txBody>
          <a:bodyPr vert="horz" wrap="square" lIns="0" tIns="0" rIns="0" bIns="0" rtlCol="0">
            <a:noAutofit/>
          </a:bodyPr>
          <a:lstStyle/>
          <a:p>
            <a:r>
              <a:rPr lang="en-US" sz="1400">
                <a:solidFill>
                  <a:srgbClr val="52514E"/>
                </a:solidFill>
                <a:latin typeface="Calibri" panose="020F0502020204030204" pitchFamily="34" charset="0"/>
              </a:rPr>
              <a:t>full build, 2 389 targets; my scenario then compiled first time</a:t>
            </a:r>
          </a:p>
        </p:txBody>
      </p:sp>
      <p:sp>
        <p:nvSpPr>
          <p:cNvPr id="8" name="TextBox 7">
            <a:extLst>
              <a:ext uri="{FF2B5EF4-FFF2-40B4-BE49-F238E27FC236}">
                <a16:creationId xmlns:a16="http://schemas.microsoft.com/office/drawing/2014/main" id="{B0B21C52-41F7-BF67-EDD7-57EFC4D4FA11}"/>
              </a:ext>
            </a:extLst>
          </p:cNvPr>
          <p:cNvSpPr txBox="1"/>
          <p:nvPr/>
        </p:nvSpPr>
        <p:spPr>
          <a:xfrm>
            <a:off x="5080000" y="1219200"/>
            <a:ext cx="6604000" cy="369332"/>
          </a:xfrm>
          <a:prstGeom prst="rect">
            <a:avLst/>
          </a:prstGeom>
          <a:noFill/>
        </p:spPr>
        <p:txBody>
          <a:bodyPr vert="horz" wrap="square" lIns="0" tIns="0" rIns="0" bIns="0" rtlCol="0">
            <a:noAutofit/>
          </a:bodyPr>
          <a:lstStyle/>
          <a:p>
            <a:r>
              <a:rPr lang="en-US" sz="1300" b="1">
                <a:solidFill>
                  <a:srgbClr val="EB6834"/>
                </a:solidFill>
                <a:latin typeface="Calibri" panose="020F0502020204030204" pitchFamily="34" charset="0"/>
              </a:rPr>
              <a:t>WHAT BROKE</a:t>
            </a:r>
          </a:p>
        </p:txBody>
      </p:sp>
      <p:sp>
        <p:nvSpPr>
          <p:cNvPr id="9" name="Oval 8">
            <a:extLst>
              <a:ext uri="{FF2B5EF4-FFF2-40B4-BE49-F238E27FC236}">
                <a16:creationId xmlns:a16="http://schemas.microsoft.com/office/drawing/2014/main" id="{A1D016A3-A1EB-F7A0-6984-ADC77614F538}"/>
              </a:ext>
            </a:extLst>
          </p:cNvPr>
          <p:cNvSpPr/>
          <p:nvPr/>
        </p:nvSpPr>
        <p:spPr>
          <a:xfrm>
            <a:off x="5080000" y="1574800"/>
            <a:ext cx="431800" cy="431800"/>
          </a:xfrm>
          <a:prstGeom prst="ellipse">
            <a:avLst/>
          </a:prstGeom>
          <a:solidFill>
            <a:srgbClr val="EB68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solidFill>
                  <a:srgbClr val="FFFFFF"/>
                </a:solidFill>
                <a:latin typeface="Calibri" panose="020F0502020204030204" pitchFamily="34" charset="0"/>
              </a:rPr>
              <a:t>1</a:t>
            </a:r>
          </a:p>
        </p:txBody>
      </p:sp>
      <p:sp>
        <p:nvSpPr>
          <p:cNvPr id="10" name="TextBox 9">
            <a:extLst>
              <a:ext uri="{FF2B5EF4-FFF2-40B4-BE49-F238E27FC236}">
                <a16:creationId xmlns:a16="http://schemas.microsoft.com/office/drawing/2014/main" id="{5D39C749-D655-D4E3-6807-C7A5424C29A3}"/>
              </a:ext>
            </a:extLst>
          </p:cNvPr>
          <p:cNvSpPr txBox="1"/>
          <p:nvPr/>
        </p:nvSpPr>
        <p:spPr>
          <a:xfrm>
            <a:off x="5689600" y="1562100"/>
            <a:ext cx="5969000" cy="369332"/>
          </a:xfrm>
          <a:prstGeom prst="rect">
            <a:avLst/>
          </a:prstGeom>
          <a:noFill/>
        </p:spPr>
        <p:txBody>
          <a:bodyPr vert="horz" wrap="square" lIns="0" tIns="0" rIns="0" bIns="0" rtlCol="0">
            <a:noAutofit/>
          </a:bodyPr>
          <a:lstStyle/>
          <a:p>
            <a:r>
              <a:rPr lang="en-US" sz="1700" b="1">
                <a:solidFill>
                  <a:srgbClr val="13293D"/>
                </a:solidFill>
                <a:latin typeface="Calibri" panose="020F0502020204030204" pitchFamily="34" charset="0"/>
              </a:rPr>
              <a:t>Refused to run as root</a:t>
            </a:r>
          </a:p>
        </p:txBody>
      </p:sp>
      <p:sp>
        <p:nvSpPr>
          <p:cNvPr id="11" name="TextBox 10">
            <a:extLst>
              <a:ext uri="{FF2B5EF4-FFF2-40B4-BE49-F238E27FC236}">
                <a16:creationId xmlns:a16="http://schemas.microsoft.com/office/drawing/2014/main" id="{6CB1D742-5754-C7A2-95DA-6312AD4E1136}"/>
              </a:ext>
            </a:extLst>
          </p:cNvPr>
          <p:cNvSpPr txBox="1"/>
          <p:nvPr/>
        </p:nvSpPr>
        <p:spPr>
          <a:xfrm>
            <a:off x="5689600" y="1854200"/>
            <a:ext cx="5969000" cy="369332"/>
          </a:xfrm>
          <a:prstGeom prst="rect">
            <a:avLst/>
          </a:prstGeom>
          <a:noFill/>
        </p:spPr>
        <p:txBody>
          <a:bodyPr vert="horz" wrap="square" lIns="0" tIns="0" rIns="0" bIns="0" rtlCol="0">
            <a:noAutofit/>
          </a:bodyPr>
          <a:lstStyle/>
          <a:p>
            <a:r>
              <a:rPr lang="en-US" sz="1400">
                <a:solidFill>
                  <a:srgbClr val="52514E"/>
                </a:solidFill>
                <a:latin typeface="Calibri" panose="020F0502020204030204" pitchFamily="34" charset="0"/>
              </a:rPr>
              <a:t>I cloned in a root shell; moved the tree to user joy</a:t>
            </a:r>
          </a:p>
        </p:txBody>
      </p:sp>
      <p:sp>
        <p:nvSpPr>
          <p:cNvPr id="12" name="Oval 11">
            <a:extLst>
              <a:ext uri="{FF2B5EF4-FFF2-40B4-BE49-F238E27FC236}">
                <a16:creationId xmlns:a16="http://schemas.microsoft.com/office/drawing/2014/main" id="{0618C7C8-E8A1-A7AC-9F5E-5D59DEFF2925}"/>
              </a:ext>
            </a:extLst>
          </p:cNvPr>
          <p:cNvSpPr/>
          <p:nvPr/>
        </p:nvSpPr>
        <p:spPr>
          <a:xfrm>
            <a:off x="5080000" y="2743200"/>
            <a:ext cx="431800" cy="431800"/>
          </a:xfrm>
          <a:prstGeom prst="ellipse">
            <a:avLst/>
          </a:prstGeom>
          <a:solidFill>
            <a:srgbClr val="EB68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solidFill>
                  <a:srgbClr val="FFFFFF"/>
                </a:solidFill>
                <a:latin typeface="Calibri" panose="020F0502020204030204" pitchFamily="34" charset="0"/>
              </a:rPr>
              <a:t>2</a:t>
            </a:r>
          </a:p>
        </p:txBody>
      </p:sp>
      <p:sp>
        <p:nvSpPr>
          <p:cNvPr id="13" name="TextBox 12">
            <a:extLst>
              <a:ext uri="{FF2B5EF4-FFF2-40B4-BE49-F238E27FC236}">
                <a16:creationId xmlns:a16="http://schemas.microsoft.com/office/drawing/2014/main" id="{B433BA41-CADF-C495-3A5C-EA50B9B6C197}"/>
              </a:ext>
            </a:extLst>
          </p:cNvPr>
          <p:cNvSpPr txBox="1"/>
          <p:nvPr/>
        </p:nvSpPr>
        <p:spPr>
          <a:xfrm>
            <a:off x="5689600" y="2730500"/>
            <a:ext cx="5969000" cy="369332"/>
          </a:xfrm>
          <a:prstGeom prst="rect">
            <a:avLst/>
          </a:prstGeom>
          <a:noFill/>
        </p:spPr>
        <p:txBody>
          <a:bodyPr vert="horz" wrap="square" lIns="0" tIns="0" rIns="0" bIns="0" rtlCol="0">
            <a:noAutofit/>
          </a:bodyPr>
          <a:lstStyle/>
          <a:p>
            <a:r>
              <a:rPr lang="en-US" sz="1700" b="1">
                <a:solidFill>
                  <a:srgbClr val="13293D"/>
                </a:solidFill>
                <a:latin typeface="Calibri" panose="020F0502020204030204" pitchFamily="34" charset="0"/>
              </a:rPr>
              <a:t>CMake 3.22, but 3.25 required</a:t>
            </a:r>
          </a:p>
        </p:txBody>
      </p:sp>
      <p:sp>
        <p:nvSpPr>
          <p:cNvPr id="14" name="TextBox 13">
            <a:extLst>
              <a:ext uri="{FF2B5EF4-FFF2-40B4-BE49-F238E27FC236}">
                <a16:creationId xmlns:a16="http://schemas.microsoft.com/office/drawing/2014/main" id="{88739D22-9B03-01A4-B562-951180FA9882}"/>
              </a:ext>
            </a:extLst>
          </p:cNvPr>
          <p:cNvSpPr txBox="1"/>
          <p:nvPr/>
        </p:nvSpPr>
        <p:spPr>
          <a:xfrm>
            <a:off x="5689600" y="3022600"/>
            <a:ext cx="5969000" cy="369332"/>
          </a:xfrm>
          <a:prstGeom prst="rect">
            <a:avLst/>
          </a:prstGeom>
          <a:noFill/>
        </p:spPr>
        <p:txBody>
          <a:bodyPr vert="horz" wrap="square" lIns="0" tIns="0" rIns="0" bIns="0" rtlCol="0">
            <a:noAutofit/>
          </a:bodyPr>
          <a:lstStyle/>
          <a:p>
            <a:r>
              <a:rPr lang="en-US" sz="1400">
                <a:solidFill>
                  <a:srgbClr val="52514E"/>
                </a:solidFill>
                <a:latin typeface="Calibri" panose="020F0502020204030204" pitchFamily="34" charset="0"/>
              </a:rPr>
              <a:t>user-level CMake 3.31.6 from pip, nothing else on the VM changed</a:t>
            </a:r>
          </a:p>
        </p:txBody>
      </p:sp>
      <p:sp>
        <p:nvSpPr>
          <p:cNvPr id="15" name="Oval 14">
            <a:extLst>
              <a:ext uri="{FF2B5EF4-FFF2-40B4-BE49-F238E27FC236}">
                <a16:creationId xmlns:a16="http://schemas.microsoft.com/office/drawing/2014/main" id="{7D11E814-26EA-79B3-CC26-753FA357D21E}"/>
              </a:ext>
            </a:extLst>
          </p:cNvPr>
          <p:cNvSpPr/>
          <p:nvPr/>
        </p:nvSpPr>
        <p:spPr>
          <a:xfrm>
            <a:off x="5080000" y="3911600"/>
            <a:ext cx="431800" cy="431800"/>
          </a:xfrm>
          <a:prstGeom prst="ellipse">
            <a:avLst/>
          </a:prstGeom>
          <a:solidFill>
            <a:srgbClr val="EB68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solidFill>
                  <a:srgbClr val="FFFFFF"/>
                </a:solidFill>
                <a:latin typeface="Calibri" panose="020F0502020204030204" pitchFamily="34" charset="0"/>
              </a:rPr>
              <a:t>3</a:t>
            </a:r>
          </a:p>
        </p:txBody>
      </p:sp>
      <p:sp>
        <p:nvSpPr>
          <p:cNvPr id="16" name="TextBox 15">
            <a:extLst>
              <a:ext uri="{FF2B5EF4-FFF2-40B4-BE49-F238E27FC236}">
                <a16:creationId xmlns:a16="http://schemas.microsoft.com/office/drawing/2014/main" id="{32536547-6FA6-53D3-4046-43D08E597F8B}"/>
              </a:ext>
            </a:extLst>
          </p:cNvPr>
          <p:cNvSpPr txBox="1"/>
          <p:nvPr/>
        </p:nvSpPr>
        <p:spPr>
          <a:xfrm>
            <a:off x="5689600" y="3898900"/>
            <a:ext cx="5969000" cy="369332"/>
          </a:xfrm>
          <a:prstGeom prst="rect">
            <a:avLst/>
          </a:prstGeom>
          <a:noFill/>
        </p:spPr>
        <p:txBody>
          <a:bodyPr vert="horz" wrap="square" lIns="0" tIns="0" rIns="0" bIns="0" rtlCol="0">
            <a:noAutofit/>
          </a:bodyPr>
          <a:lstStyle/>
          <a:p>
            <a:r>
              <a:rPr lang="en-US" sz="1700" b="1">
                <a:solidFill>
                  <a:srgbClr val="13293D"/>
                </a:solidFill>
                <a:latin typeface="Calibri" panose="020F0502020204030204" pitchFamily="34" charset="0"/>
              </a:rPr>
              <a:t>README install commands out of date</a:t>
            </a:r>
          </a:p>
        </p:txBody>
      </p:sp>
      <p:sp>
        <p:nvSpPr>
          <p:cNvPr id="17" name="TextBox 16">
            <a:extLst>
              <a:ext uri="{FF2B5EF4-FFF2-40B4-BE49-F238E27FC236}">
                <a16:creationId xmlns:a16="http://schemas.microsoft.com/office/drawing/2014/main" id="{B5544AAB-D104-99C2-D556-0A8306798EE9}"/>
              </a:ext>
            </a:extLst>
          </p:cNvPr>
          <p:cNvSpPr txBox="1"/>
          <p:nvPr/>
        </p:nvSpPr>
        <p:spPr>
          <a:xfrm>
            <a:off x="5689600" y="4191000"/>
            <a:ext cx="5969000" cy="369332"/>
          </a:xfrm>
          <a:prstGeom prst="rect">
            <a:avLst/>
          </a:prstGeom>
          <a:noFill/>
        </p:spPr>
        <p:txBody>
          <a:bodyPr vert="horz" wrap="square" lIns="0" tIns="0" rIns="0" bIns="0" rtlCol="0">
            <a:noAutofit/>
          </a:bodyPr>
          <a:lstStyle/>
          <a:p>
            <a:r>
              <a:rPr lang="en-US" sz="1400">
                <a:solidFill>
                  <a:srgbClr val="52514E"/>
                </a:solidFill>
                <a:latin typeface="Calibri" panose="020F0502020204030204" pitchFamily="34" charset="0"/>
              </a:rPr>
              <a:t>followed the compatibility table: v5.1 with ns-3.48</a:t>
            </a:r>
          </a:p>
        </p:txBody>
      </p:sp>
      <p:sp>
        <p:nvSpPr>
          <p:cNvPr id="18" name="Oval 17">
            <a:extLst>
              <a:ext uri="{FF2B5EF4-FFF2-40B4-BE49-F238E27FC236}">
                <a16:creationId xmlns:a16="http://schemas.microsoft.com/office/drawing/2014/main" id="{67E4DC50-8E50-D53A-4896-D2D58AD8A88E}"/>
              </a:ext>
            </a:extLst>
          </p:cNvPr>
          <p:cNvSpPr/>
          <p:nvPr/>
        </p:nvSpPr>
        <p:spPr>
          <a:xfrm>
            <a:off x="5080000" y="5080000"/>
            <a:ext cx="431800" cy="431800"/>
          </a:xfrm>
          <a:prstGeom prst="ellipse">
            <a:avLst/>
          </a:prstGeom>
          <a:solidFill>
            <a:srgbClr val="EB68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solidFill>
                  <a:srgbClr val="FFFFFF"/>
                </a:solidFill>
                <a:latin typeface="Calibri" panose="020F0502020204030204" pitchFamily="34" charset="0"/>
              </a:rPr>
              <a:t>4</a:t>
            </a:r>
          </a:p>
        </p:txBody>
      </p:sp>
      <p:sp>
        <p:nvSpPr>
          <p:cNvPr id="19" name="TextBox 18">
            <a:extLst>
              <a:ext uri="{FF2B5EF4-FFF2-40B4-BE49-F238E27FC236}">
                <a16:creationId xmlns:a16="http://schemas.microsoft.com/office/drawing/2014/main" id="{885B407A-D740-55E9-2C51-D871267ED8FA}"/>
              </a:ext>
            </a:extLst>
          </p:cNvPr>
          <p:cNvSpPr txBox="1"/>
          <p:nvPr/>
        </p:nvSpPr>
        <p:spPr>
          <a:xfrm>
            <a:off x="5689600" y="5067300"/>
            <a:ext cx="5969000" cy="369332"/>
          </a:xfrm>
          <a:prstGeom prst="rect">
            <a:avLst/>
          </a:prstGeom>
          <a:noFill/>
        </p:spPr>
        <p:txBody>
          <a:bodyPr vert="horz" wrap="square" lIns="0" tIns="0" rIns="0" bIns="0" rtlCol="0">
            <a:noAutofit/>
          </a:bodyPr>
          <a:lstStyle/>
          <a:p>
            <a:r>
              <a:rPr lang="en-US" sz="1700" b="1">
                <a:solidFill>
                  <a:srgbClr val="13293D"/>
                </a:solidFill>
                <a:latin typeface="Calibri" panose="020F0502020204030204" pitchFamily="34" charset="0"/>
              </a:rPr>
              <a:t>Wireshark showed my video as "TAPA"</a:t>
            </a:r>
          </a:p>
        </p:txBody>
      </p:sp>
      <p:sp>
        <p:nvSpPr>
          <p:cNvPr id="20" name="TextBox 19">
            <a:extLst>
              <a:ext uri="{FF2B5EF4-FFF2-40B4-BE49-F238E27FC236}">
                <a16:creationId xmlns:a16="http://schemas.microsoft.com/office/drawing/2014/main" id="{891B991D-312A-78E2-DF5B-1F2169D201B7}"/>
              </a:ext>
            </a:extLst>
          </p:cNvPr>
          <p:cNvSpPr txBox="1"/>
          <p:nvPr/>
        </p:nvSpPr>
        <p:spPr>
          <a:xfrm>
            <a:off x="5689600" y="5359400"/>
            <a:ext cx="5969000" cy="369332"/>
          </a:xfrm>
          <a:prstGeom prst="rect">
            <a:avLst/>
          </a:prstGeom>
          <a:noFill/>
        </p:spPr>
        <p:txBody>
          <a:bodyPr vert="horz" wrap="square" lIns="0" tIns="0" rIns="0" bIns="0" rtlCol="0">
            <a:noAutofit/>
          </a:bodyPr>
          <a:lstStyle/>
          <a:p>
            <a:r>
              <a:rPr lang="en-US" sz="1400">
                <a:solidFill>
                  <a:srgbClr val="52514E"/>
                </a:solidFill>
                <a:latin typeface="Calibri" panose="020F0502020204030204" pitchFamily="34" charset="0"/>
              </a:rPr>
              <a:t>UDP port 5000 belongs to that dissector; disabled it</a:t>
            </a:r>
          </a:p>
        </p:txBody>
      </p:sp>
      <p:sp>
        <p:nvSpPr>
          <p:cNvPr id="21" name="TextBox 20">
            <a:extLst>
              <a:ext uri="{FF2B5EF4-FFF2-40B4-BE49-F238E27FC236}">
                <a16:creationId xmlns:a16="http://schemas.microsoft.com/office/drawing/2014/main" id="{6C604AB9-24FE-CD70-3A60-04D4BA51C837}"/>
              </a:ext>
            </a:extLst>
          </p:cNvPr>
          <p:cNvSpPr txBox="1"/>
          <p:nvPr/>
        </p:nvSpPr>
        <p:spPr>
          <a:xfrm>
            <a:off x="508000" y="6451600"/>
            <a:ext cx="6350000" cy="369332"/>
          </a:xfrm>
          <a:prstGeom prst="rect">
            <a:avLst/>
          </a:prstGeom>
          <a:noFill/>
        </p:spPr>
        <p:txBody>
          <a:bodyPr vert="horz" wrap="square" lIns="0" tIns="0" rIns="0" bIns="0" rtlCol="0">
            <a:noAutofit/>
          </a:bodyPr>
          <a:lstStyle/>
          <a:p>
            <a:r>
              <a:rPr lang="en-US" sz="1000">
                <a:solidFill>
                  <a:srgbClr val="52514E"/>
                </a:solidFill>
                <a:latin typeface="Calibri" panose="020F0502020204030204" pitchFamily="34" charset="0"/>
              </a:rPr>
              <a:t>Petrajoy Davidson  |  A2: ns-3 Setup &amp; Traffic Model</a:t>
            </a:r>
          </a:p>
        </p:txBody>
      </p:sp>
      <p:sp>
        <p:nvSpPr>
          <p:cNvPr id="22" name="TextBox 21">
            <a:extLst>
              <a:ext uri="{FF2B5EF4-FFF2-40B4-BE49-F238E27FC236}">
                <a16:creationId xmlns:a16="http://schemas.microsoft.com/office/drawing/2014/main" id="{120DF02A-1094-6874-480D-9699D514BA93}"/>
              </a:ext>
            </a:extLst>
          </p:cNvPr>
          <p:cNvSpPr txBox="1"/>
          <p:nvPr/>
        </p:nvSpPr>
        <p:spPr>
          <a:xfrm>
            <a:off x="10414000" y="6451600"/>
            <a:ext cx="1270000" cy="369332"/>
          </a:xfrm>
          <a:prstGeom prst="rect">
            <a:avLst/>
          </a:prstGeom>
          <a:noFill/>
        </p:spPr>
        <p:txBody>
          <a:bodyPr vert="horz" wrap="square" lIns="0" tIns="0" rIns="0" bIns="0" rtlCol="0">
            <a:noAutofit/>
          </a:bodyPr>
          <a:lstStyle/>
          <a:p>
            <a:pPr algn="r"/>
            <a:r>
              <a:rPr lang="en-US" sz="1000">
                <a:solidFill>
                  <a:srgbClr val="52514E"/>
                </a:solidFill>
                <a:latin typeface="Calibri" panose="020F0502020204030204" pitchFamily="34" charset="0"/>
              </a:rPr>
              <a:t>3 / 10</a:t>
            </a:r>
          </a:p>
        </p:txBody>
      </p:sp>
    </p:spTree>
    <p:extLst>
      <p:ext uri="{BB962C8B-B14F-4D97-AF65-F5344CB8AC3E}">
        <p14:creationId xmlns:p14="http://schemas.microsoft.com/office/powerpoint/2010/main" val="3024360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DFBD17C-145D-CE55-E95A-519D69FB92A3}"/>
              </a:ext>
            </a:extLst>
          </p:cNvPr>
          <p:cNvSpPr txBox="1"/>
          <p:nvPr/>
        </p:nvSpPr>
        <p:spPr>
          <a:xfrm>
            <a:off x="508000" y="330200"/>
            <a:ext cx="11176000" cy="369332"/>
          </a:xfrm>
          <a:prstGeom prst="rect">
            <a:avLst/>
          </a:prstGeom>
          <a:noFill/>
        </p:spPr>
        <p:txBody>
          <a:bodyPr vert="horz" wrap="square" lIns="0" tIns="0" rIns="0" bIns="0" rtlCol="0">
            <a:noAutofit/>
          </a:bodyPr>
          <a:lstStyle/>
          <a:p>
            <a:r>
              <a:rPr lang="en-US" sz="3000" b="1">
                <a:solidFill>
                  <a:srgbClr val="13293D"/>
                </a:solidFill>
                <a:latin typeface="Cambria" panose="02040503050406030204" pitchFamily="18" charset="0"/>
              </a:rPr>
              <a:t>The 3GPP XR video model (TR 26.926)</a:t>
            </a:r>
          </a:p>
        </p:txBody>
      </p:sp>
      <p:graphicFrame>
        <p:nvGraphicFramePr>
          <p:cNvPr id="3" name="Table 2">
            <a:extLst>
              <a:ext uri="{FF2B5EF4-FFF2-40B4-BE49-F238E27FC236}">
                <a16:creationId xmlns:a16="http://schemas.microsoft.com/office/drawing/2014/main" id="{04910301-1CE0-3BAC-6B39-FFCF3B30CE45}"/>
              </a:ext>
            </a:extLst>
          </p:cNvPr>
          <p:cNvGraphicFramePr>
            <a:graphicFrameLocks noGrp="1"/>
          </p:cNvGraphicFramePr>
          <p:nvPr>
            <p:extLst>
              <p:ext uri="{D42A27DB-BD31-4B8C-83A1-F6EECF244321}">
                <p14:modId xmlns:p14="http://schemas.microsoft.com/office/powerpoint/2010/main" val="1048485300"/>
              </p:ext>
            </p:extLst>
          </p:nvPr>
        </p:nvGraphicFramePr>
        <p:xfrm>
          <a:off x="508000" y="1219200"/>
          <a:ext cx="6604000" cy="3810000"/>
        </p:xfrm>
        <a:graphic>
          <a:graphicData uri="http://schemas.openxmlformats.org/drawingml/2006/table">
            <a:tbl>
              <a:tblPr firstRow="1" bandRow="1">
                <a:tableStyleId>{2D5ABB26-0587-4C30-8999-92F81FD0307C}</a:tableStyleId>
              </a:tblPr>
              <a:tblGrid>
                <a:gridCol w="1905000">
                  <a:extLst>
                    <a:ext uri="{9D8B030D-6E8A-4147-A177-3AD203B41FA5}">
                      <a16:colId xmlns:a16="http://schemas.microsoft.com/office/drawing/2014/main" val="2223338441"/>
                    </a:ext>
                  </a:extLst>
                </a:gridCol>
                <a:gridCol w="4699000">
                  <a:extLst>
                    <a:ext uri="{9D8B030D-6E8A-4147-A177-3AD203B41FA5}">
                      <a16:colId xmlns:a16="http://schemas.microsoft.com/office/drawing/2014/main" val="3192059697"/>
                    </a:ext>
                  </a:extLst>
                </a:gridCol>
              </a:tblGrid>
              <a:tr h="544286">
                <a:tc>
                  <a:txBody>
                    <a:bodyPr/>
                    <a:lstStyle/>
                    <a:p>
                      <a:r>
                        <a:rPr lang="en-US" sz="1400" b="1">
                          <a:solidFill>
                            <a:srgbClr val="FFFFFF"/>
                          </a:solidFill>
                          <a:latin typeface="Calibri" panose="020F0502020204030204" pitchFamily="34" charset="0"/>
                        </a:rPr>
                        <a:t>Parameter</a:t>
                      </a:r>
                    </a:p>
                  </a:txBody>
                  <a:tcPr marL="76200" marR="76200" marT="50800" marB="50800">
                    <a:solidFill>
                      <a:srgbClr val="13293D"/>
                    </a:solidFill>
                  </a:tcPr>
                </a:tc>
                <a:tc>
                  <a:txBody>
                    <a:bodyPr/>
                    <a:lstStyle/>
                    <a:p>
                      <a:r>
                        <a:rPr lang="en-US" sz="1400" b="1">
                          <a:solidFill>
                            <a:srgbClr val="FFFFFF"/>
                          </a:solidFill>
                          <a:latin typeface="Calibri" panose="020F0502020204030204" pitchFamily="34" charset="0"/>
                        </a:rPr>
                        <a:t>Model</a:t>
                      </a:r>
                    </a:p>
                  </a:txBody>
                  <a:tcPr marL="76200" marR="76200" marT="50800" marB="50800">
                    <a:solidFill>
                      <a:srgbClr val="13293D"/>
                    </a:solidFill>
                  </a:tcPr>
                </a:tc>
                <a:extLst>
                  <a:ext uri="{0D108BD9-81ED-4DB2-BD59-A6C34878D82A}">
                    <a16:rowId xmlns:a16="http://schemas.microsoft.com/office/drawing/2014/main" val="1189751019"/>
                  </a:ext>
                </a:extLst>
              </a:tr>
              <a:tr h="544286">
                <a:tc>
                  <a:txBody>
                    <a:bodyPr/>
                    <a:lstStyle/>
                    <a:p>
                      <a:r>
                        <a:rPr lang="en-US" sz="1400">
                          <a:solidFill>
                            <a:srgbClr val="13293D"/>
                          </a:solidFill>
                          <a:latin typeface="Calibri" panose="020F0502020204030204" pitchFamily="34" charset="0"/>
                        </a:rPr>
                        <a:t>Frame rate F</a:t>
                      </a:r>
                    </a:p>
                  </a:txBody>
                  <a:tcPr marL="76200" marR="76200" marT="50800" marB="50800">
                    <a:solidFill>
                      <a:srgbClr val="FFFFFF"/>
                    </a:solidFill>
                  </a:tcPr>
                </a:tc>
                <a:tc>
                  <a:txBody>
                    <a:bodyPr/>
                    <a:lstStyle/>
                    <a:p>
                      <a:r>
                        <a:rPr lang="en-US" sz="1400">
                          <a:solidFill>
                            <a:srgbClr val="13293D"/>
                          </a:solidFill>
                          <a:latin typeface="Calibri" panose="020F0502020204030204" pitchFamily="34" charset="0"/>
                        </a:rPr>
                        <a:t>60 fps</a:t>
                      </a:r>
                    </a:p>
                  </a:txBody>
                  <a:tcPr marL="76200" marR="76200" marT="50800" marB="50800">
                    <a:solidFill>
                      <a:srgbClr val="FFFFFF"/>
                    </a:solidFill>
                  </a:tcPr>
                </a:tc>
                <a:extLst>
                  <a:ext uri="{0D108BD9-81ED-4DB2-BD59-A6C34878D82A}">
                    <a16:rowId xmlns:a16="http://schemas.microsoft.com/office/drawing/2014/main" val="2571700596"/>
                  </a:ext>
                </a:extLst>
              </a:tr>
              <a:tr h="544286">
                <a:tc>
                  <a:txBody>
                    <a:bodyPr/>
                    <a:lstStyle/>
                    <a:p>
                      <a:r>
                        <a:rPr lang="en-US" sz="1400">
                          <a:solidFill>
                            <a:srgbClr val="13293D"/>
                          </a:solidFill>
                          <a:latin typeface="Calibri" panose="020F0502020204030204" pitchFamily="34" charset="0"/>
                        </a:rPr>
                        <a:t>Data rate R</a:t>
                      </a:r>
                    </a:p>
                  </a:txBody>
                  <a:tcPr marL="76200" marR="76200" marT="50800" marB="50800">
                    <a:solidFill>
                      <a:srgbClr val="EEF2F6"/>
                    </a:solidFill>
                  </a:tcPr>
                </a:tc>
                <a:tc>
                  <a:txBody>
                    <a:bodyPr/>
                    <a:lstStyle/>
                    <a:p>
                      <a:r>
                        <a:rPr lang="en-US" sz="1400">
                          <a:solidFill>
                            <a:srgbClr val="13293D"/>
                          </a:solidFill>
                          <a:latin typeface="Calibri" panose="020F0502020204030204" pitchFamily="34" charset="0"/>
                        </a:rPr>
                        <a:t>30 Mbps per UE</a:t>
                      </a:r>
                    </a:p>
                  </a:txBody>
                  <a:tcPr marL="76200" marR="76200" marT="50800" marB="50800">
                    <a:solidFill>
                      <a:srgbClr val="EEF2F6"/>
                    </a:solidFill>
                  </a:tcPr>
                </a:tc>
                <a:extLst>
                  <a:ext uri="{0D108BD9-81ED-4DB2-BD59-A6C34878D82A}">
                    <a16:rowId xmlns:a16="http://schemas.microsoft.com/office/drawing/2014/main" val="2475221896"/>
                  </a:ext>
                </a:extLst>
              </a:tr>
              <a:tr h="544286">
                <a:tc>
                  <a:txBody>
                    <a:bodyPr/>
                    <a:lstStyle/>
                    <a:p>
                      <a:r>
                        <a:rPr lang="en-US" sz="1400">
                          <a:solidFill>
                            <a:srgbClr val="13293D"/>
                          </a:solidFill>
                          <a:latin typeface="Calibri" panose="020F0502020204030204" pitchFamily="34" charset="0"/>
                        </a:rPr>
                        <a:t>Frame size</a:t>
                      </a:r>
                    </a:p>
                  </a:txBody>
                  <a:tcPr marL="76200" marR="76200" marT="50800" marB="50800">
                    <a:solidFill>
                      <a:srgbClr val="FFFFFF"/>
                    </a:solidFill>
                  </a:tcPr>
                </a:tc>
                <a:tc>
                  <a:txBody>
                    <a:bodyPr/>
                    <a:lstStyle/>
                    <a:p>
                      <a:r>
                        <a:rPr lang="en-US" sz="1400">
                          <a:solidFill>
                            <a:srgbClr val="13293D"/>
                          </a:solidFill>
                          <a:latin typeface="Calibri" panose="020F0502020204030204" pitchFamily="34" charset="0"/>
                        </a:rPr>
                        <a:t>truncated Gaussian: mean R/(8F), STD 10.5 %, range 50 to 150 %</a:t>
                      </a:r>
                    </a:p>
                  </a:txBody>
                  <a:tcPr marL="76200" marR="76200" marT="50800" marB="50800">
                    <a:solidFill>
                      <a:srgbClr val="FFFFFF"/>
                    </a:solidFill>
                  </a:tcPr>
                </a:tc>
                <a:extLst>
                  <a:ext uri="{0D108BD9-81ED-4DB2-BD59-A6C34878D82A}">
                    <a16:rowId xmlns:a16="http://schemas.microsoft.com/office/drawing/2014/main" val="31024791"/>
                  </a:ext>
                </a:extLst>
              </a:tr>
              <a:tr h="544286">
                <a:tc>
                  <a:txBody>
                    <a:bodyPr/>
                    <a:lstStyle/>
                    <a:p>
                      <a:r>
                        <a:rPr lang="en-US" sz="1400">
                          <a:solidFill>
                            <a:srgbClr val="13293D"/>
                          </a:solidFill>
                          <a:latin typeface="Calibri" panose="020F0502020204030204" pitchFamily="34" charset="0"/>
                        </a:rPr>
                        <a:t>Frame jitter</a:t>
                      </a:r>
                    </a:p>
                  </a:txBody>
                  <a:tcPr marL="76200" marR="76200" marT="50800" marB="50800">
                    <a:solidFill>
                      <a:srgbClr val="EEF2F6"/>
                    </a:solidFill>
                  </a:tcPr>
                </a:tc>
                <a:tc>
                  <a:txBody>
                    <a:bodyPr/>
                    <a:lstStyle/>
                    <a:p>
                      <a:r>
                        <a:rPr lang="en-US" sz="1400">
                          <a:solidFill>
                            <a:srgbClr val="13293D"/>
                          </a:solidFill>
                          <a:latin typeface="Calibri" panose="020F0502020204030204" pitchFamily="34" charset="0"/>
                        </a:rPr>
                        <a:t>truncated Gaussian: mean 0, STD 2 ms, range -4 to +4 ms</a:t>
                      </a:r>
                    </a:p>
                  </a:txBody>
                  <a:tcPr marL="76200" marR="76200" marT="50800" marB="50800">
                    <a:solidFill>
                      <a:srgbClr val="EEF2F6"/>
                    </a:solidFill>
                  </a:tcPr>
                </a:tc>
                <a:extLst>
                  <a:ext uri="{0D108BD9-81ED-4DB2-BD59-A6C34878D82A}">
                    <a16:rowId xmlns:a16="http://schemas.microsoft.com/office/drawing/2014/main" val="2789894035"/>
                  </a:ext>
                </a:extLst>
              </a:tr>
              <a:tr h="544286">
                <a:tc>
                  <a:txBody>
                    <a:bodyPr/>
                    <a:lstStyle/>
                    <a:p>
                      <a:r>
                        <a:rPr lang="en-US" sz="1400">
                          <a:solidFill>
                            <a:srgbClr val="13293D"/>
                          </a:solidFill>
                          <a:latin typeface="Calibri" panose="020F0502020204030204" pitchFamily="34" charset="0"/>
                        </a:rPr>
                        <a:t>Arrival of frame k</a:t>
                      </a:r>
                    </a:p>
                  </a:txBody>
                  <a:tcPr marL="76200" marR="76200" marT="50800" marB="50800">
                    <a:solidFill>
                      <a:srgbClr val="FFFFFF"/>
                    </a:solidFill>
                  </a:tcPr>
                </a:tc>
                <a:tc>
                  <a:txBody>
                    <a:bodyPr/>
                    <a:lstStyle/>
                    <a:p>
                      <a:r>
                        <a:rPr lang="en-US" sz="1400">
                          <a:solidFill>
                            <a:srgbClr val="13293D"/>
                          </a:solidFill>
                          <a:latin typeface="Calibri" panose="020F0502020204030204" pitchFamily="34" charset="0"/>
                        </a:rPr>
                        <a:t>t = k/F + J (jitter around a fixed grid)</a:t>
                      </a:r>
                    </a:p>
                  </a:txBody>
                  <a:tcPr marL="76200" marR="76200" marT="50800" marB="50800">
                    <a:solidFill>
                      <a:srgbClr val="FFFFFF"/>
                    </a:solidFill>
                  </a:tcPr>
                </a:tc>
                <a:extLst>
                  <a:ext uri="{0D108BD9-81ED-4DB2-BD59-A6C34878D82A}">
                    <a16:rowId xmlns:a16="http://schemas.microsoft.com/office/drawing/2014/main" val="1217191794"/>
                  </a:ext>
                </a:extLst>
              </a:tr>
              <a:tr h="544286">
                <a:tc>
                  <a:txBody>
                    <a:bodyPr/>
                    <a:lstStyle/>
                    <a:p>
                      <a:r>
                        <a:rPr lang="en-US" sz="1400">
                          <a:solidFill>
                            <a:srgbClr val="13293D"/>
                          </a:solidFill>
                          <a:latin typeface="Calibri" panose="020F0502020204030204" pitchFamily="34" charset="0"/>
                        </a:rPr>
                        <a:t>Packets (my choice)</a:t>
                      </a:r>
                    </a:p>
                  </a:txBody>
                  <a:tcPr marL="76200" marR="76200" marT="50800" marB="50800">
                    <a:solidFill>
                      <a:srgbClr val="EEF2F6"/>
                    </a:solidFill>
                  </a:tcPr>
                </a:tc>
                <a:tc>
                  <a:txBody>
                    <a:bodyPr/>
                    <a:lstStyle/>
                    <a:p>
                      <a:r>
                        <a:rPr lang="en-US" sz="1400">
                          <a:solidFill>
                            <a:srgbClr val="13293D"/>
                          </a:solidFill>
                          <a:latin typeface="Calibri" panose="020F0502020204030204" pitchFamily="34" charset="0"/>
                        </a:rPr>
                        <a:t>frame cut into &lt;= 1 400 B UDP payloads, back to back</a:t>
                      </a:r>
                    </a:p>
                  </a:txBody>
                  <a:tcPr marL="76200" marR="76200" marT="50800" marB="50800">
                    <a:solidFill>
                      <a:srgbClr val="EEF2F6"/>
                    </a:solidFill>
                  </a:tcPr>
                </a:tc>
                <a:extLst>
                  <a:ext uri="{0D108BD9-81ED-4DB2-BD59-A6C34878D82A}">
                    <a16:rowId xmlns:a16="http://schemas.microsoft.com/office/drawing/2014/main" val="4001281742"/>
                  </a:ext>
                </a:extLst>
              </a:tr>
            </a:tbl>
          </a:graphicData>
        </a:graphic>
      </p:graphicFrame>
      <p:sp>
        <p:nvSpPr>
          <p:cNvPr id="4" name="Rectangle: Rounded Corners 3">
            <a:extLst>
              <a:ext uri="{FF2B5EF4-FFF2-40B4-BE49-F238E27FC236}">
                <a16:creationId xmlns:a16="http://schemas.microsoft.com/office/drawing/2014/main" id="{B6976CA7-C698-114D-BEF3-7058AF697286}"/>
              </a:ext>
            </a:extLst>
          </p:cNvPr>
          <p:cNvSpPr/>
          <p:nvPr/>
        </p:nvSpPr>
        <p:spPr>
          <a:xfrm>
            <a:off x="7493000" y="1219200"/>
            <a:ext cx="1968500" cy="1701800"/>
          </a:xfrm>
          <a:prstGeom prst="roundRect">
            <a:avLst>
              <a:gd name="adj" fmla="val 8000"/>
            </a:avLst>
          </a:prstGeom>
          <a:solidFill>
            <a:srgbClr val="E3EE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AEA55ED-28AE-8F2D-3F28-269BC979B1A1}"/>
              </a:ext>
            </a:extLst>
          </p:cNvPr>
          <p:cNvSpPr txBox="1"/>
          <p:nvPr/>
        </p:nvSpPr>
        <p:spPr>
          <a:xfrm>
            <a:off x="7645400" y="1549400"/>
            <a:ext cx="1663700" cy="369332"/>
          </a:xfrm>
          <a:prstGeom prst="rect">
            <a:avLst/>
          </a:prstGeom>
          <a:noFill/>
        </p:spPr>
        <p:txBody>
          <a:bodyPr vert="horz" wrap="square" lIns="0" tIns="0" rIns="0" bIns="0" rtlCol="0">
            <a:noAutofit/>
          </a:bodyPr>
          <a:lstStyle/>
          <a:p>
            <a:pPr algn="ctr"/>
            <a:r>
              <a:rPr lang="en-US" sz="3000" b="1">
                <a:solidFill>
                  <a:srgbClr val="13293D"/>
                </a:solidFill>
                <a:latin typeface="Cambria" panose="02040503050406030204" pitchFamily="18" charset="0"/>
              </a:rPr>
              <a:t>62.5 kB</a:t>
            </a:r>
          </a:p>
        </p:txBody>
      </p:sp>
      <p:sp>
        <p:nvSpPr>
          <p:cNvPr id="6" name="TextBox 5">
            <a:extLst>
              <a:ext uri="{FF2B5EF4-FFF2-40B4-BE49-F238E27FC236}">
                <a16:creationId xmlns:a16="http://schemas.microsoft.com/office/drawing/2014/main" id="{4742928B-36D9-4388-36BE-5F975B1BA113}"/>
              </a:ext>
            </a:extLst>
          </p:cNvPr>
          <p:cNvSpPr txBox="1"/>
          <p:nvPr/>
        </p:nvSpPr>
        <p:spPr>
          <a:xfrm>
            <a:off x="7645400" y="2286000"/>
            <a:ext cx="1663700" cy="369332"/>
          </a:xfrm>
          <a:prstGeom prst="rect">
            <a:avLst/>
          </a:prstGeom>
          <a:noFill/>
        </p:spPr>
        <p:txBody>
          <a:bodyPr vert="horz" wrap="square" lIns="0" tIns="0" rIns="0" bIns="0" rtlCol="0">
            <a:noAutofit/>
          </a:bodyPr>
          <a:lstStyle/>
          <a:p>
            <a:pPr algn="ctr"/>
            <a:r>
              <a:rPr lang="en-US" sz="1400">
                <a:solidFill>
                  <a:srgbClr val="52514E"/>
                </a:solidFill>
                <a:latin typeface="Calibri" panose="020F0502020204030204" pitchFamily="34" charset="0"/>
              </a:rPr>
              <a:t>mean frame size</a:t>
            </a:r>
          </a:p>
        </p:txBody>
      </p:sp>
      <p:sp>
        <p:nvSpPr>
          <p:cNvPr id="7" name="Rectangle: Rounded Corners 6">
            <a:extLst>
              <a:ext uri="{FF2B5EF4-FFF2-40B4-BE49-F238E27FC236}">
                <a16:creationId xmlns:a16="http://schemas.microsoft.com/office/drawing/2014/main" id="{41E42E4E-5053-2BD0-1D47-36F55C7B96A9}"/>
              </a:ext>
            </a:extLst>
          </p:cNvPr>
          <p:cNvSpPr/>
          <p:nvPr/>
        </p:nvSpPr>
        <p:spPr>
          <a:xfrm>
            <a:off x="9652000" y="1219200"/>
            <a:ext cx="1968500" cy="1701800"/>
          </a:xfrm>
          <a:prstGeom prst="roundRect">
            <a:avLst>
              <a:gd name="adj" fmla="val 8000"/>
            </a:avLst>
          </a:prstGeom>
          <a:solidFill>
            <a:srgbClr val="E3EE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D639DDD-7698-AB59-5996-4C5B4BB84897}"/>
              </a:ext>
            </a:extLst>
          </p:cNvPr>
          <p:cNvSpPr txBox="1"/>
          <p:nvPr/>
        </p:nvSpPr>
        <p:spPr>
          <a:xfrm>
            <a:off x="9804400" y="1549400"/>
            <a:ext cx="1663700" cy="369332"/>
          </a:xfrm>
          <a:prstGeom prst="rect">
            <a:avLst/>
          </a:prstGeom>
          <a:noFill/>
        </p:spPr>
        <p:txBody>
          <a:bodyPr vert="horz" wrap="square" lIns="0" tIns="0" rIns="0" bIns="0" rtlCol="0">
            <a:noAutofit/>
          </a:bodyPr>
          <a:lstStyle/>
          <a:p>
            <a:pPr algn="ctr"/>
            <a:r>
              <a:rPr lang="en-US" sz="3000" b="1">
                <a:solidFill>
                  <a:srgbClr val="13293D"/>
                </a:solidFill>
                <a:latin typeface="Cambria" panose="02040503050406030204" pitchFamily="18" charset="0"/>
              </a:rPr>
              <a:t>16.7 ms</a:t>
            </a:r>
          </a:p>
        </p:txBody>
      </p:sp>
      <p:sp>
        <p:nvSpPr>
          <p:cNvPr id="9" name="TextBox 8">
            <a:extLst>
              <a:ext uri="{FF2B5EF4-FFF2-40B4-BE49-F238E27FC236}">
                <a16:creationId xmlns:a16="http://schemas.microsoft.com/office/drawing/2014/main" id="{1F1D5E8D-12D7-5B64-0BD2-7C9219297A31}"/>
              </a:ext>
            </a:extLst>
          </p:cNvPr>
          <p:cNvSpPr txBox="1"/>
          <p:nvPr/>
        </p:nvSpPr>
        <p:spPr>
          <a:xfrm>
            <a:off x="9804400" y="2286000"/>
            <a:ext cx="1663700" cy="369332"/>
          </a:xfrm>
          <a:prstGeom prst="rect">
            <a:avLst/>
          </a:prstGeom>
          <a:noFill/>
        </p:spPr>
        <p:txBody>
          <a:bodyPr vert="horz" wrap="square" lIns="0" tIns="0" rIns="0" bIns="0" rtlCol="0">
            <a:noAutofit/>
          </a:bodyPr>
          <a:lstStyle/>
          <a:p>
            <a:pPr algn="ctr"/>
            <a:r>
              <a:rPr lang="en-US" sz="1400">
                <a:solidFill>
                  <a:srgbClr val="52514E"/>
                </a:solidFill>
                <a:latin typeface="Calibri" panose="020F0502020204030204" pitchFamily="34" charset="0"/>
              </a:rPr>
              <a:t>frame period</a:t>
            </a:r>
          </a:p>
        </p:txBody>
      </p:sp>
      <p:sp>
        <p:nvSpPr>
          <p:cNvPr id="10" name="Rectangle: Rounded Corners 9">
            <a:extLst>
              <a:ext uri="{FF2B5EF4-FFF2-40B4-BE49-F238E27FC236}">
                <a16:creationId xmlns:a16="http://schemas.microsoft.com/office/drawing/2014/main" id="{F88C6509-4C1A-1564-5C89-D80015861C31}"/>
              </a:ext>
            </a:extLst>
          </p:cNvPr>
          <p:cNvSpPr/>
          <p:nvPr/>
        </p:nvSpPr>
        <p:spPr>
          <a:xfrm>
            <a:off x="7493000" y="3124200"/>
            <a:ext cx="1968500" cy="1701800"/>
          </a:xfrm>
          <a:prstGeom prst="roundRect">
            <a:avLst>
              <a:gd name="adj" fmla="val 8000"/>
            </a:avLst>
          </a:prstGeom>
          <a:solidFill>
            <a:srgbClr val="E3EE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3581604-642A-7AF6-5CC5-BEEF1E41F40C}"/>
              </a:ext>
            </a:extLst>
          </p:cNvPr>
          <p:cNvSpPr txBox="1"/>
          <p:nvPr/>
        </p:nvSpPr>
        <p:spPr>
          <a:xfrm>
            <a:off x="7645400" y="3454400"/>
            <a:ext cx="1663700" cy="369332"/>
          </a:xfrm>
          <a:prstGeom prst="rect">
            <a:avLst/>
          </a:prstGeom>
          <a:noFill/>
        </p:spPr>
        <p:txBody>
          <a:bodyPr vert="horz" wrap="square" lIns="0" tIns="0" rIns="0" bIns="0" rtlCol="0">
            <a:noAutofit/>
          </a:bodyPr>
          <a:lstStyle/>
          <a:p>
            <a:pPr algn="ctr"/>
            <a:r>
              <a:rPr lang="en-US" sz="3000" b="1">
                <a:solidFill>
                  <a:srgbClr val="13293D"/>
                </a:solidFill>
                <a:latin typeface="Cambria" panose="02040503050406030204" pitchFamily="18" charset="0"/>
              </a:rPr>
              <a:t>+/- 4 ms</a:t>
            </a:r>
          </a:p>
        </p:txBody>
      </p:sp>
      <p:sp>
        <p:nvSpPr>
          <p:cNvPr id="12" name="TextBox 11">
            <a:extLst>
              <a:ext uri="{FF2B5EF4-FFF2-40B4-BE49-F238E27FC236}">
                <a16:creationId xmlns:a16="http://schemas.microsoft.com/office/drawing/2014/main" id="{666FDE33-A7C6-C047-5283-D2A8181BDB0E}"/>
              </a:ext>
            </a:extLst>
          </p:cNvPr>
          <p:cNvSpPr txBox="1"/>
          <p:nvPr/>
        </p:nvSpPr>
        <p:spPr>
          <a:xfrm>
            <a:off x="7645400" y="4191000"/>
            <a:ext cx="1663700" cy="369332"/>
          </a:xfrm>
          <a:prstGeom prst="rect">
            <a:avLst/>
          </a:prstGeom>
          <a:noFill/>
        </p:spPr>
        <p:txBody>
          <a:bodyPr vert="horz" wrap="square" lIns="0" tIns="0" rIns="0" bIns="0" rtlCol="0">
            <a:noAutofit/>
          </a:bodyPr>
          <a:lstStyle/>
          <a:p>
            <a:pPr algn="ctr"/>
            <a:r>
              <a:rPr lang="en-US" sz="1400">
                <a:solidFill>
                  <a:srgbClr val="52514E"/>
                </a:solidFill>
                <a:latin typeface="Calibri" panose="020F0502020204030204" pitchFamily="34" charset="0"/>
              </a:rPr>
              <a:t>jitter bound</a:t>
            </a:r>
          </a:p>
        </p:txBody>
      </p:sp>
      <p:sp>
        <p:nvSpPr>
          <p:cNvPr id="13" name="Rectangle: Rounded Corners 12">
            <a:extLst>
              <a:ext uri="{FF2B5EF4-FFF2-40B4-BE49-F238E27FC236}">
                <a16:creationId xmlns:a16="http://schemas.microsoft.com/office/drawing/2014/main" id="{86676C34-718E-FF05-DF4A-65EE357A1EDA}"/>
              </a:ext>
            </a:extLst>
          </p:cNvPr>
          <p:cNvSpPr/>
          <p:nvPr/>
        </p:nvSpPr>
        <p:spPr>
          <a:xfrm>
            <a:off x="9652000" y="3124200"/>
            <a:ext cx="1968500" cy="1701800"/>
          </a:xfrm>
          <a:prstGeom prst="roundRect">
            <a:avLst>
              <a:gd name="adj" fmla="val 8000"/>
            </a:avLst>
          </a:prstGeom>
          <a:solidFill>
            <a:srgbClr val="E3EE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979FB93-D8A5-7F1B-59B4-5E795ECDF379}"/>
              </a:ext>
            </a:extLst>
          </p:cNvPr>
          <p:cNvSpPr txBox="1"/>
          <p:nvPr/>
        </p:nvSpPr>
        <p:spPr>
          <a:xfrm>
            <a:off x="9804400" y="3454400"/>
            <a:ext cx="1663700" cy="369332"/>
          </a:xfrm>
          <a:prstGeom prst="rect">
            <a:avLst/>
          </a:prstGeom>
          <a:noFill/>
        </p:spPr>
        <p:txBody>
          <a:bodyPr vert="horz" wrap="square" lIns="0" tIns="0" rIns="0" bIns="0" rtlCol="0">
            <a:noAutofit/>
          </a:bodyPr>
          <a:lstStyle/>
          <a:p>
            <a:pPr algn="ctr"/>
            <a:r>
              <a:rPr lang="en-US" sz="3000" b="1">
                <a:solidFill>
                  <a:srgbClr val="13293D"/>
                </a:solidFill>
                <a:latin typeface="Cambria" panose="02040503050406030204" pitchFamily="18" charset="0"/>
              </a:rPr>
              <a:t>~45</a:t>
            </a:r>
          </a:p>
        </p:txBody>
      </p:sp>
      <p:sp>
        <p:nvSpPr>
          <p:cNvPr id="15" name="TextBox 14">
            <a:extLst>
              <a:ext uri="{FF2B5EF4-FFF2-40B4-BE49-F238E27FC236}">
                <a16:creationId xmlns:a16="http://schemas.microsoft.com/office/drawing/2014/main" id="{9B1EC258-D946-3FA2-9473-55924F053A47}"/>
              </a:ext>
            </a:extLst>
          </p:cNvPr>
          <p:cNvSpPr txBox="1"/>
          <p:nvPr/>
        </p:nvSpPr>
        <p:spPr>
          <a:xfrm>
            <a:off x="9804400" y="4191000"/>
            <a:ext cx="1663700" cy="369332"/>
          </a:xfrm>
          <a:prstGeom prst="rect">
            <a:avLst/>
          </a:prstGeom>
          <a:noFill/>
        </p:spPr>
        <p:txBody>
          <a:bodyPr vert="horz" wrap="square" lIns="0" tIns="0" rIns="0" bIns="0" rtlCol="0">
            <a:noAutofit/>
          </a:bodyPr>
          <a:lstStyle/>
          <a:p>
            <a:pPr algn="ctr"/>
            <a:r>
              <a:rPr lang="en-US" sz="1400">
                <a:solidFill>
                  <a:srgbClr val="52514E"/>
                </a:solidFill>
                <a:latin typeface="Calibri" panose="020F0502020204030204" pitchFamily="34" charset="0"/>
              </a:rPr>
              <a:t>packets per frame</a:t>
            </a:r>
          </a:p>
        </p:txBody>
      </p:sp>
      <p:sp>
        <p:nvSpPr>
          <p:cNvPr id="16" name="TextBox 15">
            <a:extLst>
              <a:ext uri="{FF2B5EF4-FFF2-40B4-BE49-F238E27FC236}">
                <a16:creationId xmlns:a16="http://schemas.microsoft.com/office/drawing/2014/main" id="{19BDFFDF-7155-4AE7-22AA-95AC64DB22B8}"/>
              </a:ext>
            </a:extLst>
          </p:cNvPr>
          <p:cNvSpPr txBox="1"/>
          <p:nvPr/>
        </p:nvSpPr>
        <p:spPr>
          <a:xfrm>
            <a:off x="508000" y="5588000"/>
            <a:ext cx="11176000" cy="369332"/>
          </a:xfrm>
          <a:prstGeom prst="rect">
            <a:avLst/>
          </a:prstGeom>
          <a:noFill/>
        </p:spPr>
        <p:txBody>
          <a:bodyPr vert="horz" wrap="square" lIns="0" tIns="0" rIns="0" bIns="0" rtlCol="0">
            <a:noAutofit/>
          </a:bodyPr>
          <a:lstStyle/>
          <a:p>
            <a:r>
              <a:rPr lang="en-US" sz="1300">
                <a:solidFill>
                  <a:srgbClr val="52514E"/>
                </a:solidFill>
                <a:latin typeface="Calibri" panose="020F0502020204030204" pitchFamily="34" charset="0"/>
              </a:rPr>
              <a:t>26.926 is a Technical Report (TR), not a TS. Its video model is the RAN1 XR model of TR 38.838, Sec. 5.1.1, Table 5.1.1.1-1.</a:t>
            </a:r>
          </a:p>
        </p:txBody>
      </p:sp>
      <p:sp>
        <p:nvSpPr>
          <p:cNvPr id="17" name="TextBox 16">
            <a:extLst>
              <a:ext uri="{FF2B5EF4-FFF2-40B4-BE49-F238E27FC236}">
                <a16:creationId xmlns:a16="http://schemas.microsoft.com/office/drawing/2014/main" id="{20DABD1B-CD6E-2450-2F58-B660EA9F74A8}"/>
              </a:ext>
            </a:extLst>
          </p:cNvPr>
          <p:cNvSpPr txBox="1"/>
          <p:nvPr/>
        </p:nvSpPr>
        <p:spPr>
          <a:xfrm>
            <a:off x="508000" y="6451600"/>
            <a:ext cx="6350000" cy="369332"/>
          </a:xfrm>
          <a:prstGeom prst="rect">
            <a:avLst/>
          </a:prstGeom>
          <a:noFill/>
        </p:spPr>
        <p:txBody>
          <a:bodyPr vert="horz" wrap="square" lIns="0" tIns="0" rIns="0" bIns="0" rtlCol="0">
            <a:noAutofit/>
          </a:bodyPr>
          <a:lstStyle/>
          <a:p>
            <a:r>
              <a:rPr lang="en-US" sz="1000">
                <a:solidFill>
                  <a:srgbClr val="52514E"/>
                </a:solidFill>
                <a:latin typeface="Calibri" panose="020F0502020204030204" pitchFamily="34" charset="0"/>
              </a:rPr>
              <a:t>Petrajoy Davidson  |  A2: ns-3 Setup &amp; Traffic Model</a:t>
            </a:r>
          </a:p>
        </p:txBody>
      </p:sp>
      <p:sp>
        <p:nvSpPr>
          <p:cNvPr id="18" name="TextBox 17">
            <a:extLst>
              <a:ext uri="{FF2B5EF4-FFF2-40B4-BE49-F238E27FC236}">
                <a16:creationId xmlns:a16="http://schemas.microsoft.com/office/drawing/2014/main" id="{E9B25EC6-E50F-AFD3-8A84-5A746D468162}"/>
              </a:ext>
            </a:extLst>
          </p:cNvPr>
          <p:cNvSpPr txBox="1"/>
          <p:nvPr/>
        </p:nvSpPr>
        <p:spPr>
          <a:xfrm>
            <a:off x="10414000" y="6451600"/>
            <a:ext cx="1270000" cy="369332"/>
          </a:xfrm>
          <a:prstGeom prst="rect">
            <a:avLst/>
          </a:prstGeom>
          <a:noFill/>
        </p:spPr>
        <p:txBody>
          <a:bodyPr vert="horz" wrap="square" lIns="0" tIns="0" rIns="0" bIns="0" rtlCol="0">
            <a:noAutofit/>
          </a:bodyPr>
          <a:lstStyle/>
          <a:p>
            <a:pPr algn="r"/>
            <a:r>
              <a:rPr lang="en-US" sz="1000">
                <a:solidFill>
                  <a:srgbClr val="52514E"/>
                </a:solidFill>
                <a:latin typeface="Calibri" panose="020F0502020204030204" pitchFamily="34" charset="0"/>
              </a:rPr>
              <a:t>4 / 10</a:t>
            </a:r>
          </a:p>
        </p:txBody>
      </p:sp>
    </p:spTree>
    <p:extLst>
      <p:ext uri="{BB962C8B-B14F-4D97-AF65-F5344CB8AC3E}">
        <p14:creationId xmlns:p14="http://schemas.microsoft.com/office/powerpoint/2010/main" val="3870595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862D8C7-A001-2002-4A02-421AA32D88D8}"/>
              </a:ext>
            </a:extLst>
          </p:cNvPr>
          <p:cNvSpPr txBox="1"/>
          <p:nvPr/>
        </p:nvSpPr>
        <p:spPr>
          <a:xfrm>
            <a:off x="508000" y="330200"/>
            <a:ext cx="11176000" cy="369332"/>
          </a:xfrm>
          <a:prstGeom prst="rect">
            <a:avLst/>
          </a:prstGeom>
          <a:noFill/>
        </p:spPr>
        <p:txBody>
          <a:bodyPr vert="horz" wrap="square" lIns="0" tIns="0" rIns="0" bIns="0" rtlCol="0">
            <a:noAutofit/>
          </a:bodyPr>
          <a:lstStyle/>
          <a:p>
            <a:r>
              <a:rPr lang="en-US" sz="3000" b="1">
                <a:solidFill>
                  <a:srgbClr val="13293D"/>
                </a:solidFill>
                <a:latin typeface="Cambria" panose="02040503050406030204" pitchFamily="18" charset="0"/>
              </a:rPr>
              <a:t>Why I did not use the built-in generator</a:t>
            </a:r>
          </a:p>
        </p:txBody>
      </p:sp>
      <p:sp>
        <p:nvSpPr>
          <p:cNvPr id="3" name="Rectangle: Rounded Corners 2">
            <a:extLst>
              <a:ext uri="{FF2B5EF4-FFF2-40B4-BE49-F238E27FC236}">
                <a16:creationId xmlns:a16="http://schemas.microsoft.com/office/drawing/2014/main" id="{ADE485BF-A9A7-ADDD-26CB-22758ECD77FD}"/>
              </a:ext>
            </a:extLst>
          </p:cNvPr>
          <p:cNvSpPr/>
          <p:nvPr/>
        </p:nvSpPr>
        <p:spPr>
          <a:xfrm>
            <a:off x="508000" y="1219200"/>
            <a:ext cx="3175000" cy="3810000"/>
          </a:xfrm>
          <a:prstGeom prst="roundRect">
            <a:avLst>
              <a:gd name="adj" fmla="val 8000"/>
            </a:avLst>
          </a:prstGeom>
          <a:solidFill>
            <a:srgbClr val="FDEBE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5CBA500-59AB-0979-B9A0-60BB39EF4F83}"/>
              </a:ext>
            </a:extLst>
          </p:cNvPr>
          <p:cNvSpPr txBox="1"/>
          <p:nvPr/>
        </p:nvSpPr>
        <p:spPr>
          <a:xfrm>
            <a:off x="736600" y="1422400"/>
            <a:ext cx="2717800" cy="369332"/>
          </a:xfrm>
          <a:prstGeom prst="rect">
            <a:avLst/>
          </a:prstGeom>
          <a:noFill/>
        </p:spPr>
        <p:txBody>
          <a:bodyPr vert="horz" wrap="square" lIns="0" tIns="0" rIns="0" bIns="0" rtlCol="0">
            <a:noAutofit/>
          </a:bodyPr>
          <a:lstStyle/>
          <a:p>
            <a:r>
              <a:rPr lang="en-US" sz="1200" b="1">
                <a:solidFill>
                  <a:srgbClr val="EB6834"/>
                </a:solidFill>
                <a:latin typeface="Calibri" panose="020F0502020204030204" pitchFamily="34" charset="0"/>
              </a:rPr>
              <a:t>FRAME SIZE SPREAD (STD)</a:t>
            </a:r>
          </a:p>
        </p:txBody>
      </p:sp>
      <p:sp>
        <p:nvSpPr>
          <p:cNvPr id="5" name="TextBox 4">
            <a:extLst>
              <a:ext uri="{FF2B5EF4-FFF2-40B4-BE49-F238E27FC236}">
                <a16:creationId xmlns:a16="http://schemas.microsoft.com/office/drawing/2014/main" id="{EDCCA07F-9552-6D50-B26A-0AC433AF5A48}"/>
              </a:ext>
            </a:extLst>
          </p:cNvPr>
          <p:cNvSpPr txBox="1"/>
          <p:nvPr/>
        </p:nvSpPr>
        <p:spPr>
          <a:xfrm>
            <a:off x="736600" y="1778000"/>
            <a:ext cx="2717800" cy="369332"/>
          </a:xfrm>
          <a:prstGeom prst="rect">
            <a:avLst/>
          </a:prstGeom>
          <a:noFill/>
        </p:spPr>
        <p:txBody>
          <a:bodyPr vert="horz" wrap="square" lIns="0" tIns="0" rIns="0" bIns="0" rtlCol="0">
            <a:noAutofit/>
          </a:bodyPr>
          <a:lstStyle/>
          <a:p>
            <a:r>
              <a:rPr lang="en-US" sz="4600" b="1">
                <a:solidFill>
                  <a:srgbClr val="EB6834"/>
                </a:solidFill>
                <a:latin typeface="Cambria" panose="02040503050406030204" pitchFamily="18" charset="0"/>
              </a:rPr>
              <a:t>81 B</a:t>
            </a:r>
          </a:p>
        </p:txBody>
      </p:sp>
      <p:sp>
        <p:nvSpPr>
          <p:cNvPr id="6" name="TextBox 5">
            <a:extLst>
              <a:ext uri="{FF2B5EF4-FFF2-40B4-BE49-F238E27FC236}">
                <a16:creationId xmlns:a16="http://schemas.microsoft.com/office/drawing/2014/main" id="{1E0FB234-02FB-CFA5-27AA-E319895A9E28}"/>
              </a:ext>
            </a:extLst>
          </p:cNvPr>
          <p:cNvSpPr txBox="1"/>
          <p:nvPr/>
        </p:nvSpPr>
        <p:spPr>
          <a:xfrm>
            <a:off x="736600" y="2565400"/>
            <a:ext cx="2717800" cy="369332"/>
          </a:xfrm>
          <a:prstGeom prst="rect">
            <a:avLst/>
          </a:prstGeom>
          <a:noFill/>
        </p:spPr>
        <p:txBody>
          <a:bodyPr vert="horz" wrap="square" lIns="0" tIns="0" rIns="0" bIns="0" rtlCol="0">
            <a:noAutofit/>
          </a:bodyPr>
          <a:lstStyle/>
          <a:p>
            <a:r>
              <a:rPr lang="en-US" sz="1400">
                <a:solidFill>
                  <a:srgbClr val="52514E"/>
                </a:solidFill>
                <a:latin typeface="Calibri" panose="020F0502020204030204" pitchFamily="34" charset="0"/>
              </a:rPr>
              <a:t>5G-LENA built-in</a:t>
            </a:r>
          </a:p>
        </p:txBody>
      </p:sp>
      <p:sp>
        <p:nvSpPr>
          <p:cNvPr id="7" name="TextBox 6">
            <a:extLst>
              <a:ext uri="{FF2B5EF4-FFF2-40B4-BE49-F238E27FC236}">
                <a16:creationId xmlns:a16="http://schemas.microsoft.com/office/drawing/2014/main" id="{5DE51B23-1F99-5C35-41F5-9AB6B22D1B3E}"/>
              </a:ext>
            </a:extLst>
          </p:cNvPr>
          <p:cNvSpPr txBox="1"/>
          <p:nvPr/>
        </p:nvSpPr>
        <p:spPr>
          <a:xfrm>
            <a:off x="736600" y="3124200"/>
            <a:ext cx="2717800" cy="369332"/>
          </a:xfrm>
          <a:prstGeom prst="rect">
            <a:avLst/>
          </a:prstGeom>
          <a:noFill/>
        </p:spPr>
        <p:txBody>
          <a:bodyPr vert="horz" wrap="square" lIns="0" tIns="0" rIns="0" bIns="0" rtlCol="0">
            <a:noAutofit/>
          </a:bodyPr>
          <a:lstStyle/>
          <a:p>
            <a:r>
              <a:rPr lang="en-US" sz="4600" b="1">
                <a:solidFill>
                  <a:srgbClr val="13293D"/>
                </a:solidFill>
                <a:latin typeface="Cambria" panose="02040503050406030204" pitchFamily="18" charset="0"/>
              </a:rPr>
              <a:t>6 563 B</a:t>
            </a:r>
          </a:p>
        </p:txBody>
      </p:sp>
      <p:sp>
        <p:nvSpPr>
          <p:cNvPr id="8" name="TextBox 7">
            <a:extLst>
              <a:ext uri="{FF2B5EF4-FFF2-40B4-BE49-F238E27FC236}">
                <a16:creationId xmlns:a16="http://schemas.microsoft.com/office/drawing/2014/main" id="{18EB04CD-810C-1685-C022-16C4F15BD8F1}"/>
              </a:ext>
            </a:extLst>
          </p:cNvPr>
          <p:cNvSpPr txBox="1"/>
          <p:nvPr/>
        </p:nvSpPr>
        <p:spPr>
          <a:xfrm>
            <a:off x="736600" y="3911600"/>
            <a:ext cx="2717800" cy="369332"/>
          </a:xfrm>
          <a:prstGeom prst="rect">
            <a:avLst/>
          </a:prstGeom>
          <a:noFill/>
        </p:spPr>
        <p:txBody>
          <a:bodyPr vert="horz" wrap="square" lIns="0" tIns="0" rIns="0" bIns="0" rtlCol="0">
            <a:noAutofit/>
          </a:bodyPr>
          <a:lstStyle/>
          <a:p>
            <a:r>
              <a:rPr lang="en-US" sz="1400">
                <a:solidFill>
                  <a:srgbClr val="52514E"/>
                </a:solidFill>
                <a:latin typeface="Calibri" panose="020F0502020204030204" pitchFamily="34" charset="0"/>
              </a:rPr>
              <a:t>3GPP model (10.5 % of 62.5 kB)</a:t>
            </a:r>
          </a:p>
        </p:txBody>
      </p:sp>
      <p:graphicFrame>
        <p:nvGraphicFramePr>
          <p:cNvPr id="9" name="Table 8">
            <a:extLst>
              <a:ext uri="{FF2B5EF4-FFF2-40B4-BE49-F238E27FC236}">
                <a16:creationId xmlns:a16="http://schemas.microsoft.com/office/drawing/2014/main" id="{935C84BA-B219-71FC-9CA1-BE372F0E76CC}"/>
              </a:ext>
            </a:extLst>
          </p:cNvPr>
          <p:cNvGraphicFramePr>
            <a:graphicFrameLocks noGrp="1"/>
          </p:cNvGraphicFramePr>
          <p:nvPr>
            <p:extLst>
              <p:ext uri="{D42A27DB-BD31-4B8C-83A1-F6EECF244321}">
                <p14:modId xmlns:p14="http://schemas.microsoft.com/office/powerpoint/2010/main" val="3757763907"/>
              </p:ext>
            </p:extLst>
          </p:nvPr>
        </p:nvGraphicFramePr>
        <p:xfrm>
          <a:off x="4013200" y="1219200"/>
          <a:ext cx="7670800" cy="3048000"/>
        </p:xfrm>
        <a:graphic>
          <a:graphicData uri="http://schemas.openxmlformats.org/drawingml/2006/table">
            <a:tbl>
              <a:tblPr firstRow="1" bandRow="1">
                <a:tableStyleId>{2D5ABB26-0587-4C30-8999-92F81FD0307C}</a:tableStyleId>
              </a:tblPr>
              <a:tblGrid>
                <a:gridCol w="1905000">
                  <a:extLst>
                    <a:ext uri="{9D8B030D-6E8A-4147-A177-3AD203B41FA5}">
                      <a16:colId xmlns:a16="http://schemas.microsoft.com/office/drawing/2014/main" val="389439469"/>
                    </a:ext>
                  </a:extLst>
                </a:gridCol>
                <a:gridCol w="2628900">
                  <a:extLst>
                    <a:ext uri="{9D8B030D-6E8A-4147-A177-3AD203B41FA5}">
                      <a16:colId xmlns:a16="http://schemas.microsoft.com/office/drawing/2014/main" val="3050996800"/>
                    </a:ext>
                  </a:extLst>
                </a:gridCol>
                <a:gridCol w="3136900">
                  <a:extLst>
                    <a:ext uri="{9D8B030D-6E8A-4147-A177-3AD203B41FA5}">
                      <a16:colId xmlns:a16="http://schemas.microsoft.com/office/drawing/2014/main" val="3691319993"/>
                    </a:ext>
                  </a:extLst>
                </a:gridCol>
              </a:tblGrid>
              <a:tr h="609600">
                <a:tc>
                  <a:txBody>
                    <a:bodyPr/>
                    <a:lstStyle/>
                    <a:p>
                      <a:endParaRPr lang="en-US" sz="1400" b="1">
                        <a:solidFill>
                          <a:srgbClr val="FFFFFF"/>
                        </a:solidFill>
                        <a:latin typeface="Calibri" panose="020F0502020204030204" pitchFamily="34" charset="0"/>
                      </a:endParaRPr>
                    </a:p>
                  </a:txBody>
                  <a:tcPr marL="76200" marR="76200" marT="50800" marB="50800">
                    <a:solidFill>
                      <a:srgbClr val="13293D"/>
                    </a:solidFill>
                  </a:tcPr>
                </a:tc>
                <a:tc>
                  <a:txBody>
                    <a:bodyPr/>
                    <a:lstStyle/>
                    <a:p>
                      <a:r>
                        <a:rPr lang="en-US" sz="1400" b="1">
                          <a:solidFill>
                            <a:srgbClr val="FFFFFF"/>
                          </a:solidFill>
                          <a:latin typeface="Calibri" panose="020F0502020204030204" pitchFamily="34" charset="0"/>
                        </a:rPr>
                        <a:t>3GPP TR 26.926 / 38.838</a:t>
                      </a:r>
                    </a:p>
                  </a:txBody>
                  <a:tcPr marL="76200" marR="76200" marT="50800" marB="50800">
                    <a:solidFill>
                      <a:srgbClr val="13293D"/>
                    </a:solidFill>
                  </a:tcPr>
                </a:tc>
                <a:tc>
                  <a:txBody>
                    <a:bodyPr/>
                    <a:lstStyle/>
                    <a:p>
                      <a:r>
                        <a:rPr lang="en-US" sz="1400" b="1">
                          <a:solidFill>
                            <a:srgbClr val="FFFFFF"/>
                          </a:solidFill>
                          <a:latin typeface="Calibri" panose="020F0502020204030204" pitchFamily="34" charset="0"/>
                        </a:rPr>
                        <a:t>5G-LENA v5.1 built-in</a:t>
                      </a:r>
                    </a:p>
                  </a:txBody>
                  <a:tcPr marL="76200" marR="76200" marT="50800" marB="50800">
                    <a:solidFill>
                      <a:srgbClr val="13293D"/>
                    </a:solidFill>
                  </a:tcPr>
                </a:tc>
                <a:extLst>
                  <a:ext uri="{0D108BD9-81ED-4DB2-BD59-A6C34878D82A}">
                    <a16:rowId xmlns:a16="http://schemas.microsoft.com/office/drawing/2014/main" val="1552265392"/>
                  </a:ext>
                </a:extLst>
              </a:tr>
              <a:tr h="609600">
                <a:tc>
                  <a:txBody>
                    <a:bodyPr/>
                    <a:lstStyle/>
                    <a:p>
                      <a:r>
                        <a:rPr lang="en-US" sz="1400">
                          <a:solidFill>
                            <a:srgbClr val="13293D"/>
                          </a:solidFill>
                          <a:latin typeface="Calibri" panose="020F0502020204030204" pitchFamily="34" charset="0"/>
                        </a:rPr>
                        <a:t>Frame size spread</a:t>
                      </a:r>
                    </a:p>
                  </a:txBody>
                  <a:tcPr marL="76200" marR="76200" marT="50800" marB="50800">
                    <a:solidFill>
                      <a:srgbClr val="FFFFFF"/>
                    </a:solidFill>
                  </a:tcPr>
                </a:tc>
                <a:tc>
                  <a:txBody>
                    <a:bodyPr/>
                    <a:lstStyle/>
                    <a:p>
                      <a:r>
                        <a:rPr lang="en-US" sz="1400">
                          <a:solidFill>
                            <a:srgbClr val="13293D"/>
                          </a:solidFill>
                          <a:latin typeface="Calibri" panose="020F0502020204030204" pitchFamily="34" charset="0"/>
                        </a:rPr>
                        <a:t>STD = 10.5 % of the mean</a:t>
                      </a:r>
                    </a:p>
                  </a:txBody>
                  <a:tcPr marL="76200" marR="76200" marT="50800" marB="50800">
                    <a:solidFill>
                      <a:srgbClr val="FFFFFF"/>
                    </a:solidFill>
                  </a:tcPr>
                </a:tc>
                <a:tc>
                  <a:txBody>
                    <a:bodyPr/>
                    <a:lstStyle/>
                    <a:p>
                      <a:r>
                        <a:rPr lang="en-US" sz="1400">
                          <a:solidFill>
                            <a:srgbClr val="13293D"/>
                          </a:solidFill>
                          <a:latin typeface="Calibri" panose="020F0502020204030204" pitchFamily="34" charset="0"/>
                        </a:rPr>
                        <a:t>variance = 0.105 x mean, so STD ~ 81 B</a:t>
                      </a:r>
                    </a:p>
                  </a:txBody>
                  <a:tcPr marL="76200" marR="76200" marT="50800" marB="50800">
                    <a:solidFill>
                      <a:srgbClr val="FFFFFF"/>
                    </a:solidFill>
                  </a:tcPr>
                </a:tc>
                <a:extLst>
                  <a:ext uri="{0D108BD9-81ED-4DB2-BD59-A6C34878D82A}">
                    <a16:rowId xmlns:a16="http://schemas.microsoft.com/office/drawing/2014/main" val="2686290120"/>
                  </a:ext>
                </a:extLst>
              </a:tr>
              <a:tr h="609600">
                <a:tc>
                  <a:txBody>
                    <a:bodyPr/>
                    <a:lstStyle/>
                    <a:p>
                      <a:r>
                        <a:rPr lang="en-US" sz="1400">
                          <a:solidFill>
                            <a:srgbClr val="13293D"/>
                          </a:solidFill>
                          <a:latin typeface="Calibri" panose="020F0502020204030204" pitchFamily="34" charset="0"/>
                        </a:rPr>
                        <a:t>Jitter range</a:t>
                      </a:r>
                    </a:p>
                  </a:txBody>
                  <a:tcPr marL="76200" marR="76200" marT="50800" marB="50800">
                    <a:solidFill>
                      <a:srgbClr val="EEF2F6"/>
                    </a:solidFill>
                  </a:tcPr>
                </a:tc>
                <a:tc>
                  <a:txBody>
                    <a:bodyPr/>
                    <a:lstStyle/>
                    <a:p>
                      <a:r>
                        <a:rPr lang="en-US" sz="1400">
                          <a:solidFill>
                            <a:srgbClr val="13293D"/>
                          </a:solidFill>
                          <a:latin typeface="Calibri" panose="020F0502020204030204" pitchFamily="34" charset="0"/>
                        </a:rPr>
                        <a:t>-4 to +4 ms</a:t>
                      </a:r>
                    </a:p>
                  </a:txBody>
                  <a:tcPr marL="76200" marR="76200" marT="50800" marB="50800">
                    <a:solidFill>
                      <a:srgbClr val="EEF2F6"/>
                    </a:solidFill>
                  </a:tcPr>
                </a:tc>
                <a:tc>
                  <a:txBody>
                    <a:bodyPr/>
                    <a:lstStyle/>
                    <a:p>
                      <a:r>
                        <a:rPr lang="en-US" sz="1400">
                          <a:solidFill>
                            <a:srgbClr val="13293D"/>
                          </a:solidFill>
                          <a:latin typeface="Calibri" panose="020F0502020204030204" pitchFamily="34" charset="0"/>
                        </a:rPr>
                        <a:t>-2 to +2 ms</a:t>
                      </a:r>
                    </a:p>
                  </a:txBody>
                  <a:tcPr marL="76200" marR="76200" marT="50800" marB="50800">
                    <a:solidFill>
                      <a:srgbClr val="EEF2F6"/>
                    </a:solidFill>
                  </a:tcPr>
                </a:tc>
                <a:extLst>
                  <a:ext uri="{0D108BD9-81ED-4DB2-BD59-A6C34878D82A}">
                    <a16:rowId xmlns:a16="http://schemas.microsoft.com/office/drawing/2014/main" val="2779826016"/>
                  </a:ext>
                </a:extLst>
              </a:tr>
              <a:tr h="609600">
                <a:tc>
                  <a:txBody>
                    <a:bodyPr/>
                    <a:lstStyle/>
                    <a:p>
                      <a:r>
                        <a:rPr lang="en-US" sz="1400">
                          <a:solidFill>
                            <a:srgbClr val="13293D"/>
                          </a:solidFill>
                          <a:latin typeface="Calibri" panose="020F0502020204030204" pitchFamily="34" charset="0"/>
                        </a:rPr>
                        <a:t>Jitter type</a:t>
                      </a:r>
                    </a:p>
                  </a:txBody>
                  <a:tcPr marL="76200" marR="76200" marT="50800" marB="50800">
                    <a:solidFill>
                      <a:srgbClr val="FFFFFF"/>
                    </a:solidFill>
                  </a:tcPr>
                </a:tc>
                <a:tc>
                  <a:txBody>
                    <a:bodyPr/>
                    <a:lstStyle/>
                    <a:p>
                      <a:r>
                        <a:rPr lang="en-US" sz="1400">
                          <a:solidFill>
                            <a:srgbClr val="13293D"/>
                          </a:solidFill>
                          <a:latin typeface="Calibri" panose="020F0502020204030204" pitchFamily="34" charset="0"/>
                        </a:rPr>
                        <a:t>around a fixed grid</a:t>
                      </a:r>
                    </a:p>
                  </a:txBody>
                  <a:tcPr marL="76200" marR="76200" marT="50800" marB="50800">
                    <a:solidFill>
                      <a:srgbClr val="FFFFFF"/>
                    </a:solidFill>
                  </a:tcPr>
                </a:tc>
                <a:tc>
                  <a:txBody>
                    <a:bodyPr/>
                    <a:lstStyle/>
                    <a:p>
                      <a:r>
                        <a:rPr lang="en-US" sz="1400">
                          <a:solidFill>
                            <a:srgbClr val="13293D"/>
                          </a:solidFill>
                          <a:latin typeface="Calibri" panose="020F0502020204030204" pitchFamily="34" charset="0"/>
                        </a:rPr>
                        <a:t>added to every gap (random walk)</a:t>
                      </a:r>
                    </a:p>
                  </a:txBody>
                  <a:tcPr marL="76200" marR="76200" marT="50800" marB="50800">
                    <a:solidFill>
                      <a:srgbClr val="FFFFFF"/>
                    </a:solidFill>
                  </a:tcPr>
                </a:tc>
                <a:extLst>
                  <a:ext uri="{0D108BD9-81ED-4DB2-BD59-A6C34878D82A}">
                    <a16:rowId xmlns:a16="http://schemas.microsoft.com/office/drawing/2014/main" val="1728140939"/>
                  </a:ext>
                </a:extLst>
              </a:tr>
              <a:tr h="609600">
                <a:tc>
                  <a:txBody>
                    <a:bodyPr/>
                    <a:lstStyle/>
                    <a:p>
                      <a:r>
                        <a:rPr lang="en-US" sz="1400">
                          <a:solidFill>
                            <a:srgbClr val="13293D"/>
                          </a:solidFill>
                          <a:latin typeface="Calibri" panose="020F0502020204030204" pitchFamily="34" charset="0"/>
                        </a:rPr>
                        <a:t>Jitter resolution</a:t>
                      </a:r>
                    </a:p>
                  </a:txBody>
                  <a:tcPr marL="76200" marR="76200" marT="50800" marB="50800">
                    <a:solidFill>
                      <a:srgbClr val="EEF2F6"/>
                    </a:solidFill>
                  </a:tcPr>
                </a:tc>
                <a:tc>
                  <a:txBody>
                    <a:bodyPr/>
                    <a:lstStyle/>
                    <a:p>
                      <a:r>
                        <a:rPr lang="en-US" sz="1400">
                          <a:solidFill>
                            <a:srgbClr val="13293D"/>
                          </a:solidFill>
                          <a:latin typeface="Calibri" panose="020F0502020204030204" pitchFamily="34" charset="0"/>
                        </a:rPr>
                        <a:t>continuous</a:t>
                      </a:r>
                    </a:p>
                  </a:txBody>
                  <a:tcPr marL="76200" marR="76200" marT="50800" marB="50800">
                    <a:solidFill>
                      <a:srgbClr val="EEF2F6"/>
                    </a:solidFill>
                  </a:tcPr>
                </a:tc>
                <a:tc>
                  <a:txBody>
                    <a:bodyPr/>
                    <a:lstStyle/>
                    <a:p>
                      <a:r>
                        <a:rPr lang="en-US" sz="1400">
                          <a:solidFill>
                            <a:srgbClr val="13293D"/>
                          </a:solidFill>
                          <a:latin typeface="Calibri" panose="020F0502020204030204" pitchFamily="34" charset="0"/>
                        </a:rPr>
                        <a:t>whole milliseconds</a:t>
                      </a:r>
                    </a:p>
                  </a:txBody>
                  <a:tcPr marL="76200" marR="76200" marT="50800" marB="50800">
                    <a:solidFill>
                      <a:srgbClr val="EEF2F6"/>
                    </a:solidFill>
                  </a:tcPr>
                </a:tc>
                <a:extLst>
                  <a:ext uri="{0D108BD9-81ED-4DB2-BD59-A6C34878D82A}">
                    <a16:rowId xmlns:a16="http://schemas.microsoft.com/office/drawing/2014/main" val="3794233879"/>
                  </a:ext>
                </a:extLst>
              </a:tr>
            </a:tbl>
          </a:graphicData>
        </a:graphic>
      </p:graphicFrame>
      <p:sp>
        <p:nvSpPr>
          <p:cNvPr id="10" name="TextBox 9">
            <a:extLst>
              <a:ext uri="{FF2B5EF4-FFF2-40B4-BE49-F238E27FC236}">
                <a16:creationId xmlns:a16="http://schemas.microsoft.com/office/drawing/2014/main" id="{FC899F5B-E1EF-760F-D8A5-1D157891563C}"/>
              </a:ext>
            </a:extLst>
          </p:cNvPr>
          <p:cNvSpPr txBox="1"/>
          <p:nvPr/>
        </p:nvSpPr>
        <p:spPr>
          <a:xfrm>
            <a:off x="4013200" y="4521200"/>
            <a:ext cx="7670800" cy="369332"/>
          </a:xfrm>
          <a:prstGeom prst="rect">
            <a:avLst/>
          </a:prstGeom>
          <a:noFill/>
        </p:spPr>
        <p:txBody>
          <a:bodyPr vert="horz" wrap="square" lIns="0" tIns="0" rIns="0" bIns="0" rtlCol="0">
            <a:noAutofit/>
          </a:bodyPr>
          <a:lstStyle/>
          <a:p>
            <a:r>
              <a:rPr lang="en-US" sz="1500" b="1">
                <a:solidFill>
                  <a:srgbClr val="13293D"/>
                </a:solidFill>
                <a:latin typeface="Calibri" panose="020F0502020204030204" pitchFamily="34" charset="0"/>
              </a:rPr>
              <a:t>So I wrote XrVideoApp: rejection-sampled truncated Gaussians, variance = STD squared, jitter on a fixed grid. AI-assisted; every parameter checked against the table.</a:t>
            </a:r>
          </a:p>
        </p:txBody>
      </p:sp>
      <p:sp>
        <p:nvSpPr>
          <p:cNvPr id="11" name="TextBox 10">
            <a:extLst>
              <a:ext uri="{FF2B5EF4-FFF2-40B4-BE49-F238E27FC236}">
                <a16:creationId xmlns:a16="http://schemas.microsoft.com/office/drawing/2014/main" id="{183BA9F9-9CA5-B84D-7B15-DDCF47292BB8}"/>
              </a:ext>
            </a:extLst>
          </p:cNvPr>
          <p:cNvSpPr txBox="1"/>
          <p:nvPr/>
        </p:nvSpPr>
        <p:spPr>
          <a:xfrm>
            <a:off x="508000" y="5588000"/>
            <a:ext cx="11176000" cy="369332"/>
          </a:xfrm>
          <a:prstGeom prst="rect">
            <a:avLst/>
          </a:prstGeom>
          <a:noFill/>
        </p:spPr>
        <p:txBody>
          <a:bodyPr vert="horz" wrap="square" lIns="0" tIns="0" rIns="0" bIns="0" rtlCol="0">
            <a:noAutofit/>
          </a:bodyPr>
          <a:lstStyle/>
          <a:p>
            <a:r>
              <a:rPr lang="en-US" sz="1200">
                <a:solidFill>
                  <a:srgbClr val="52514E"/>
                </a:solidFill>
                <a:latin typeface="Calibri" panose="020F0502020204030204" pitchFamily="34" charset="0"/>
              </a:rPr>
              <a:t>Source: contrib/nr/utils/traffic-generators/model/traffic-generator-3gpp-generic-video.cc (5g-lena-v5.1.y), lines 262, 299, 303</a:t>
            </a:r>
          </a:p>
        </p:txBody>
      </p:sp>
      <p:sp>
        <p:nvSpPr>
          <p:cNvPr id="12" name="TextBox 11">
            <a:extLst>
              <a:ext uri="{FF2B5EF4-FFF2-40B4-BE49-F238E27FC236}">
                <a16:creationId xmlns:a16="http://schemas.microsoft.com/office/drawing/2014/main" id="{4C037C0D-F3CB-C1AE-915F-26D0B7E86DE9}"/>
              </a:ext>
            </a:extLst>
          </p:cNvPr>
          <p:cNvSpPr txBox="1"/>
          <p:nvPr/>
        </p:nvSpPr>
        <p:spPr>
          <a:xfrm>
            <a:off x="508000" y="6451600"/>
            <a:ext cx="6350000" cy="369332"/>
          </a:xfrm>
          <a:prstGeom prst="rect">
            <a:avLst/>
          </a:prstGeom>
          <a:noFill/>
        </p:spPr>
        <p:txBody>
          <a:bodyPr vert="horz" wrap="square" lIns="0" tIns="0" rIns="0" bIns="0" rtlCol="0">
            <a:noAutofit/>
          </a:bodyPr>
          <a:lstStyle/>
          <a:p>
            <a:r>
              <a:rPr lang="en-US" sz="1000">
                <a:solidFill>
                  <a:srgbClr val="52514E"/>
                </a:solidFill>
                <a:latin typeface="Calibri" panose="020F0502020204030204" pitchFamily="34" charset="0"/>
              </a:rPr>
              <a:t>Petrajoy Davidson  |  A2: ns-3 Setup &amp; Traffic Model</a:t>
            </a:r>
          </a:p>
        </p:txBody>
      </p:sp>
      <p:sp>
        <p:nvSpPr>
          <p:cNvPr id="13" name="TextBox 12">
            <a:extLst>
              <a:ext uri="{FF2B5EF4-FFF2-40B4-BE49-F238E27FC236}">
                <a16:creationId xmlns:a16="http://schemas.microsoft.com/office/drawing/2014/main" id="{E83C604B-2EA4-1713-C817-ABB7FD7FC6C1}"/>
              </a:ext>
            </a:extLst>
          </p:cNvPr>
          <p:cNvSpPr txBox="1"/>
          <p:nvPr/>
        </p:nvSpPr>
        <p:spPr>
          <a:xfrm>
            <a:off x="10414000" y="6451600"/>
            <a:ext cx="1270000" cy="369332"/>
          </a:xfrm>
          <a:prstGeom prst="rect">
            <a:avLst/>
          </a:prstGeom>
          <a:noFill/>
        </p:spPr>
        <p:txBody>
          <a:bodyPr vert="horz" wrap="square" lIns="0" tIns="0" rIns="0" bIns="0" rtlCol="0">
            <a:noAutofit/>
          </a:bodyPr>
          <a:lstStyle/>
          <a:p>
            <a:pPr algn="r"/>
            <a:r>
              <a:rPr lang="en-US" sz="1000">
                <a:solidFill>
                  <a:srgbClr val="52514E"/>
                </a:solidFill>
                <a:latin typeface="Calibri" panose="020F0502020204030204" pitchFamily="34" charset="0"/>
              </a:rPr>
              <a:t>5 / 10</a:t>
            </a:r>
          </a:p>
        </p:txBody>
      </p:sp>
    </p:spTree>
    <p:extLst>
      <p:ext uri="{BB962C8B-B14F-4D97-AF65-F5344CB8AC3E}">
        <p14:creationId xmlns:p14="http://schemas.microsoft.com/office/powerpoint/2010/main" val="4091545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D4B4D3D-3694-E7C3-FFAE-D240C24B91DF}"/>
              </a:ext>
            </a:extLst>
          </p:cNvPr>
          <p:cNvSpPr txBox="1"/>
          <p:nvPr/>
        </p:nvSpPr>
        <p:spPr>
          <a:xfrm>
            <a:off x="508000" y="330200"/>
            <a:ext cx="11176000" cy="369332"/>
          </a:xfrm>
          <a:prstGeom prst="rect">
            <a:avLst/>
          </a:prstGeom>
          <a:noFill/>
        </p:spPr>
        <p:txBody>
          <a:bodyPr vert="horz" wrap="square" lIns="0" tIns="0" rIns="0" bIns="0" rtlCol="0">
            <a:noAutofit/>
          </a:bodyPr>
          <a:lstStyle/>
          <a:p>
            <a:r>
              <a:rPr lang="en-US" sz="3000" b="1">
                <a:solidFill>
                  <a:srgbClr val="13293D"/>
                </a:solidFill>
                <a:latin typeface="Cambria" panose="02040503050406030204" pitchFamily="18" charset="0"/>
              </a:rPr>
              <a:t>The scenario: an intent loop in ns-3</a:t>
            </a:r>
          </a:p>
        </p:txBody>
      </p:sp>
      <p:sp>
        <p:nvSpPr>
          <p:cNvPr id="3" name="Rectangle: Rounded Corners 2">
            <a:extLst>
              <a:ext uri="{FF2B5EF4-FFF2-40B4-BE49-F238E27FC236}">
                <a16:creationId xmlns:a16="http://schemas.microsoft.com/office/drawing/2014/main" id="{99DA9636-3195-95E2-8494-611FA3AEE216}"/>
              </a:ext>
            </a:extLst>
          </p:cNvPr>
          <p:cNvSpPr/>
          <p:nvPr/>
        </p:nvSpPr>
        <p:spPr>
          <a:xfrm>
            <a:off x="508000" y="1168400"/>
            <a:ext cx="2489200" cy="889000"/>
          </a:xfrm>
          <a:prstGeom prst="roundRect">
            <a:avLst>
              <a:gd name="adj" fmla="val 8000"/>
            </a:avLst>
          </a:prstGeom>
          <a:solidFill>
            <a:srgbClr val="EEF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E6E5910-6CEA-D053-2AE8-7D18BD605539}"/>
              </a:ext>
            </a:extLst>
          </p:cNvPr>
          <p:cNvSpPr txBox="1"/>
          <p:nvPr/>
        </p:nvSpPr>
        <p:spPr>
          <a:xfrm>
            <a:off x="685800" y="1320800"/>
            <a:ext cx="2133600" cy="369332"/>
          </a:xfrm>
          <a:prstGeom prst="rect">
            <a:avLst/>
          </a:prstGeom>
          <a:noFill/>
        </p:spPr>
        <p:txBody>
          <a:bodyPr vert="horz" wrap="square" lIns="0" tIns="0" rIns="0" bIns="0" rtlCol="0">
            <a:noAutofit/>
          </a:bodyPr>
          <a:lstStyle/>
          <a:p>
            <a:r>
              <a:rPr lang="en-US" sz="1600" b="1">
                <a:solidFill>
                  <a:srgbClr val="13293D"/>
                </a:solidFill>
                <a:latin typeface="Calibri" panose="020F0502020204030204" pitchFamily="34" charset="0"/>
              </a:rPr>
              <a:t>Intent JSON</a:t>
            </a:r>
          </a:p>
        </p:txBody>
      </p:sp>
      <p:sp>
        <p:nvSpPr>
          <p:cNvPr id="5" name="TextBox 4">
            <a:extLst>
              <a:ext uri="{FF2B5EF4-FFF2-40B4-BE49-F238E27FC236}">
                <a16:creationId xmlns:a16="http://schemas.microsoft.com/office/drawing/2014/main" id="{FC3356FC-5907-F382-1A84-64536757BB43}"/>
              </a:ext>
            </a:extLst>
          </p:cNvPr>
          <p:cNvSpPr txBox="1"/>
          <p:nvPr/>
        </p:nvSpPr>
        <p:spPr>
          <a:xfrm>
            <a:off x="685800" y="1625600"/>
            <a:ext cx="2133600" cy="381000"/>
          </a:xfrm>
          <a:prstGeom prst="rect">
            <a:avLst/>
          </a:prstGeom>
          <a:noFill/>
        </p:spPr>
        <p:txBody>
          <a:bodyPr vert="horz" wrap="square" lIns="0" tIns="0" rIns="0" bIns="0" rtlCol="0">
            <a:noAutofit/>
          </a:bodyPr>
          <a:lstStyle/>
          <a:p>
            <a:r>
              <a:rPr lang="en-US" sz="1300">
                <a:solidFill>
                  <a:srgbClr val="52514E"/>
                </a:solidFill>
                <a:latin typeface="Calibri" panose="020F0502020204030204" pitchFamily="34" charset="0"/>
              </a:rPr>
              <a:t>share, UEs, traffic, slice B SLA</a:t>
            </a:r>
          </a:p>
        </p:txBody>
      </p:sp>
      <p:sp>
        <p:nvSpPr>
          <p:cNvPr id="6" name="Arrow: Right 5">
            <a:extLst>
              <a:ext uri="{FF2B5EF4-FFF2-40B4-BE49-F238E27FC236}">
                <a16:creationId xmlns:a16="http://schemas.microsoft.com/office/drawing/2014/main" id="{C27754D4-C1F8-8BED-4283-96D75F2DBC2F}"/>
              </a:ext>
            </a:extLst>
          </p:cNvPr>
          <p:cNvSpPr/>
          <p:nvPr/>
        </p:nvSpPr>
        <p:spPr>
          <a:xfrm>
            <a:off x="3073400" y="1473200"/>
            <a:ext cx="254000" cy="279400"/>
          </a:xfrm>
          <a:prstGeom prst="rightArrow">
            <a:avLst/>
          </a:prstGeom>
          <a:solidFill>
            <a:srgbClr val="52514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42D296E-BD27-3E74-EC69-3D4EE85362B7}"/>
              </a:ext>
            </a:extLst>
          </p:cNvPr>
          <p:cNvSpPr/>
          <p:nvPr/>
        </p:nvSpPr>
        <p:spPr>
          <a:xfrm>
            <a:off x="3403600" y="1168400"/>
            <a:ext cx="2489200" cy="889000"/>
          </a:xfrm>
          <a:prstGeom prst="roundRect">
            <a:avLst>
              <a:gd name="adj" fmla="val 8000"/>
            </a:avLst>
          </a:prstGeom>
          <a:solidFill>
            <a:srgbClr val="EEF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8B082F5-A294-0407-2F10-27EB471E48AD}"/>
              </a:ext>
            </a:extLst>
          </p:cNvPr>
          <p:cNvSpPr txBox="1"/>
          <p:nvPr/>
        </p:nvSpPr>
        <p:spPr>
          <a:xfrm>
            <a:off x="3581400" y="1320800"/>
            <a:ext cx="2133600" cy="369332"/>
          </a:xfrm>
          <a:prstGeom prst="rect">
            <a:avLst/>
          </a:prstGeom>
          <a:noFill/>
        </p:spPr>
        <p:txBody>
          <a:bodyPr vert="horz" wrap="square" lIns="0" tIns="0" rIns="0" bIns="0" rtlCol="0">
            <a:noAutofit/>
          </a:bodyPr>
          <a:lstStyle/>
          <a:p>
            <a:r>
              <a:rPr lang="en-US" sz="1600" b="1">
                <a:solidFill>
                  <a:srgbClr val="13293D"/>
                </a:solidFill>
                <a:latin typeface="Calibri" panose="020F0502020204030204" pitchFamily="34" charset="0"/>
              </a:rPr>
              <a:t>intent_enact.py</a:t>
            </a:r>
          </a:p>
        </p:txBody>
      </p:sp>
      <p:sp>
        <p:nvSpPr>
          <p:cNvPr id="9" name="TextBox 8">
            <a:extLst>
              <a:ext uri="{FF2B5EF4-FFF2-40B4-BE49-F238E27FC236}">
                <a16:creationId xmlns:a16="http://schemas.microsoft.com/office/drawing/2014/main" id="{0F41EF9E-3152-0623-DBE2-A88E7CC87B15}"/>
              </a:ext>
            </a:extLst>
          </p:cNvPr>
          <p:cNvSpPr txBox="1"/>
          <p:nvPr/>
        </p:nvSpPr>
        <p:spPr>
          <a:xfrm>
            <a:off x="3581400" y="1625600"/>
            <a:ext cx="2133600" cy="381000"/>
          </a:xfrm>
          <a:prstGeom prst="rect">
            <a:avLst/>
          </a:prstGeom>
          <a:noFill/>
        </p:spPr>
        <p:txBody>
          <a:bodyPr vert="horz" wrap="square" lIns="0" tIns="0" rIns="0" bIns="0" rtlCol="0">
            <a:noAutofit/>
          </a:bodyPr>
          <a:lstStyle/>
          <a:p>
            <a:r>
              <a:rPr lang="en-US" sz="1300">
                <a:solidFill>
                  <a:srgbClr val="52514E"/>
                </a:solidFill>
                <a:latin typeface="Calibri" panose="020F0502020204030204" pitchFamily="34" charset="0"/>
              </a:rPr>
              <a:t>capacity-only check, translate</a:t>
            </a:r>
          </a:p>
        </p:txBody>
      </p:sp>
      <p:sp>
        <p:nvSpPr>
          <p:cNvPr id="10" name="Arrow: Right 9">
            <a:extLst>
              <a:ext uri="{FF2B5EF4-FFF2-40B4-BE49-F238E27FC236}">
                <a16:creationId xmlns:a16="http://schemas.microsoft.com/office/drawing/2014/main" id="{AFDE1538-29FB-CB78-1053-BB9B94AA2903}"/>
              </a:ext>
            </a:extLst>
          </p:cNvPr>
          <p:cNvSpPr/>
          <p:nvPr/>
        </p:nvSpPr>
        <p:spPr>
          <a:xfrm>
            <a:off x="5969000" y="1473200"/>
            <a:ext cx="254000" cy="279400"/>
          </a:xfrm>
          <a:prstGeom prst="rightArrow">
            <a:avLst/>
          </a:prstGeom>
          <a:solidFill>
            <a:srgbClr val="52514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B75A130-8597-65A8-05F0-542873309AF1}"/>
              </a:ext>
            </a:extLst>
          </p:cNvPr>
          <p:cNvSpPr/>
          <p:nvPr/>
        </p:nvSpPr>
        <p:spPr>
          <a:xfrm>
            <a:off x="6299200" y="1168400"/>
            <a:ext cx="2489200" cy="889000"/>
          </a:xfrm>
          <a:prstGeom prst="roundRect">
            <a:avLst>
              <a:gd name="adj" fmla="val 8000"/>
            </a:avLst>
          </a:prstGeom>
          <a:solidFill>
            <a:srgbClr val="EEF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3F5B98F-9906-99AB-0CD4-A51F1E56ED79}"/>
              </a:ext>
            </a:extLst>
          </p:cNvPr>
          <p:cNvSpPr txBox="1"/>
          <p:nvPr/>
        </p:nvSpPr>
        <p:spPr>
          <a:xfrm>
            <a:off x="6477000" y="1320800"/>
            <a:ext cx="2133600" cy="369332"/>
          </a:xfrm>
          <a:prstGeom prst="rect">
            <a:avLst/>
          </a:prstGeom>
          <a:noFill/>
        </p:spPr>
        <p:txBody>
          <a:bodyPr vert="horz" wrap="square" lIns="0" tIns="0" rIns="0" bIns="0" rtlCol="0">
            <a:noAutofit/>
          </a:bodyPr>
          <a:lstStyle/>
          <a:p>
            <a:r>
              <a:rPr lang="en-US" sz="1600" b="1">
                <a:solidFill>
                  <a:srgbClr val="13293D"/>
                </a:solidFill>
                <a:latin typeface="Calibri" panose="020F0502020204030204" pitchFamily="34" charset="0"/>
              </a:rPr>
              <a:t>ns-3 run</a:t>
            </a:r>
          </a:p>
        </p:txBody>
      </p:sp>
      <p:sp>
        <p:nvSpPr>
          <p:cNvPr id="13" name="TextBox 12">
            <a:extLst>
              <a:ext uri="{FF2B5EF4-FFF2-40B4-BE49-F238E27FC236}">
                <a16:creationId xmlns:a16="http://schemas.microsoft.com/office/drawing/2014/main" id="{3D150783-E8B1-4218-81AD-B14197716159}"/>
              </a:ext>
            </a:extLst>
          </p:cNvPr>
          <p:cNvSpPr txBox="1"/>
          <p:nvPr/>
        </p:nvSpPr>
        <p:spPr>
          <a:xfrm>
            <a:off x="6477000" y="1625600"/>
            <a:ext cx="2133600" cy="381000"/>
          </a:xfrm>
          <a:prstGeom prst="rect">
            <a:avLst/>
          </a:prstGeom>
          <a:noFill/>
        </p:spPr>
        <p:txBody>
          <a:bodyPr vert="horz" wrap="square" lIns="0" tIns="0" rIns="0" bIns="0" rtlCol="0">
            <a:noAutofit/>
          </a:bodyPr>
          <a:lstStyle/>
          <a:p>
            <a:r>
              <a:rPr lang="en-US" sz="1300">
                <a:solidFill>
                  <a:srgbClr val="52514E"/>
                </a:solidFill>
                <a:latin typeface="Calibri" panose="020F0502020204030204" pitchFamily="34" charset="0"/>
              </a:rPr>
              <a:t>a2-intent-slicing</a:t>
            </a:r>
          </a:p>
        </p:txBody>
      </p:sp>
      <p:sp>
        <p:nvSpPr>
          <p:cNvPr id="14" name="Arrow: Right 13">
            <a:extLst>
              <a:ext uri="{FF2B5EF4-FFF2-40B4-BE49-F238E27FC236}">
                <a16:creationId xmlns:a16="http://schemas.microsoft.com/office/drawing/2014/main" id="{B40C6134-E168-A686-43DA-91BEBFA89482}"/>
              </a:ext>
            </a:extLst>
          </p:cNvPr>
          <p:cNvSpPr/>
          <p:nvPr/>
        </p:nvSpPr>
        <p:spPr>
          <a:xfrm>
            <a:off x="8864600" y="1473200"/>
            <a:ext cx="254000" cy="279400"/>
          </a:xfrm>
          <a:prstGeom prst="rightArrow">
            <a:avLst/>
          </a:prstGeom>
          <a:solidFill>
            <a:srgbClr val="52514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A556F94F-3C32-F70B-C023-192987474984}"/>
              </a:ext>
            </a:extLst>
          </p:cNvPr>
          <p:cNvSpPr/>
          <p:nvPr/>
        </p:nvSpPr>
        <p:spPr>
          <a:xfrm>
            <a:off x="9194800" y="1168400"/>
            <a:ext cx="2489200" cy="889000"/>
          </a:xfrm>
          <a:prstGeom prst="roundRect">
            <a:avLst>
              <a:gd name="adj" fmla="val 8000"/>
            </a:avLst>
          </a:prstGeom>
          <a:solidFill>
            <a:srgbClr val="EEF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049CB59-D5B6-4B9F-D817-213BAACA1E46}"/>
              </a:ext>
            </a:extLst>
          </p:cNvPr>
          <p:cNvSpPr txBox="1"/>
          <p:nvPr/>
        </p:nvSpPr>
        <p:spPr>
          <a:xfrm>
            <a:off x="9372600" y="1320800"/>
            <a:ext cx="2133600" cy="369332"/>
          </a:xfrm>
          <a:prstGeom prst="rect">
            <a:avLst/>
          </a:prstGeom>
          <a:noFill/>
        </p:spPr>
        <p:txBody>
          <a:bodyPr vert="horz" wrap="square" lIns="0" tIns="0" rIns="0" bIns="0" rtlCol="0">
            <a:noAutofit/>
          </a:bodyPr>
          <a:lstStyle/>
          <a:p>
            <a:r>
              <a:rPr lang="en-US" sz="1600" b="1">
                <a:solidFill>
                  <a:srgbClr val="13293D"/>
                </a:solidFill>
                <a:latin typeface="Calibri" panose="020F0502020204030204" pitchFamily="34" charset="0"/>
              </a:rPr>
              <a:t>analyze.py</a:t>
            </a:r>
          </a:p>
        </p:txBody>
      </p:sp>
      <p:sp>
        <p:nvSpPr>
          <p:cNvPr id="17" name="TextBox 16">
            <a:extLst>
              <a:ext uri="{FF2B5EF4-FFF2-40B4-BE49-F238E27FC236}">
                <a16:creationId xmlns:a16="http://schemas.microsoft.com/office/drawing/2014/main" id="{FB4777F3-CD43-6B40-C934-3FE062A0BA38}"/>
              </a:ext>
            </a:extLst>
          </p:cNvPr>
          <p:cNvSpPr txBox="1"/>
          <p:nvPr/>
        </p:nvSpPr>
        <p:spPr>
          <a:xfrm>
            <a:off x="9372600" y="1625600"/>
            <a:ext cx="2133600" cy="381000"/>
          </a:xfrm>
          <a:prstGeom prst="rect">
            <a:avLst/>
          </a:prstGeom>
          <a:noFill/>
        </p:spPr>
        <p:txBody>
          <a:bodyPr vert="horz" wrap="square" lIns="0" tIns="0" rIns="0" bIns="0" rtlCol="0">
            <a:noAutofit/>
          </a:bodyPr>
          <a:lstStyle/>
          <a:p>
            <a:r>
              <a:rPr lang="nn-NO" sz="1300">
                <a:solidFill>
                  <a:srgbClr val="52514E"/>
                </a:solidFill>
                <a:latin typeface="Calibri" panose="020F0502020204030204" pitchFamily="34" charset="0"/>
              </a:rPr>
              <a:t>PDF/CDF, KPIs, SLA verdict</a:t>
            </a:r>
            <a:endParaRPr lang="en-US" sz="1300">
              <a:solidFill>
                <a:srgbClr val="52514E"/>
              </a:solidFill>
              <a:latin typeface="Calibri" panose="020F0502020204030204" pitchFamily="34" charset="0"/>
            </a:endParaRPr>
          </a:p>
        </p:txBody>
      </p:sp>
      <p:sp>
        <p:nvSpPr>
          <p:cNvPr id="18" name="TextBox 17">
            <a:extLst>
              <a:ext uri="{FF2B5EF4-FFF2-40B4-BE49-F238E27FC236}">
                <a16:creationId xmlns:a16="http://schemas.microsoft.com/office/drawing/2014/main" id="{3ADFE744-4D98-9BE6-45A6-9D2D9EF37748}"/>
              </a:ext>
            </a:extLst>
          </p:cNvPr>
          <p:cNvSpPr txBox="1"/>
          <p:nvPr/>
        </p:nvSpPr>
        <p:spPr>
          <a:xfrm>
            <a:off x="508000" y="2336800"/>
            <a:ext cx="11176000" cy="369332"/>
          </a:xfrm>
          <a:prstGeom prst="rect">
            <a:avLst/>
          </a:prstGeom>
          <a:noFill/>
        </p:spPr>
        <p:txBody>
          <a:bodyPr vert="horz" wrap="square" lIns="0" tIns="0" rIns="0" bIns="0" rtlCol="0">
            <a:noAutofit/>
          </a:bodyPr>
          <a:lstStyle/>
          <a:p>
            <a:r>
              <a:rPr lang="en-US" sz="1400">
                <a:solidFill>
                  <a:srgbClr val="52514E"/>
                </a:solidFill>
                <a:latin typeface="Calibri" panose="020F0502020204030204" pitchFamily="34" charset="0"/>
              </a:rPr>
              <a:t>1 gNB, 100 MHz at 28 GHz, numerology 2, UMi channel; the intent sets the split into two bandwidth parts</a:t>
            </a:r>
          </a:p>
        </p:txBody>
      </p:sp>
      <p:sp>
        <p:nvSpPr>
          <p:cNvPr id="19" name="Rectangle: Rounded Corners 18">
            <a:extLst>
              <a:ext uri="{FF2B5EF4-FFF2-40B4-BE49-F238E27FC236}">
                <a16:creationId xmlns:a16="http://schemas.microsoft.com/office/drawing/2014/main" id="{FBA65423-E22E-A05E-319C-B7C0ACADA266}"/>
              </a:ext>
            </a:extLst>
          </p:cNvPr>
          <p:cNvSpPr/>
          <p:nvPr/>
        </p:nvSpPr>
        <p:spPr>
          <a:xfrm>
            <a:off x="508000" y="2692400"/>
            <a:ext cx="7823200" cy="508000"/>
          </a:xfrm>
          <a:prstGeom prst="roundRect">
            <a:avLst>
              <a:gd name="adj" fmla="val 8000"/>
            </a:avLst>
          </a:prstGeom>
          <a:solidFill>
            <a:srgbClr val="2A78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F8DDDECC-1027-CF93-0454-F21FE9737CB6}"/>
              </a:ext>
            </a:extLst>
          </p:cNvPr>
          <p:cNvSpPr/>
          <p:nvPr/>
        </p:nvSpPr>
        <p:spPr>
          <a:xfrm>
            <a:off x="8407400" y="2692400"/>
            <a:ext cx="3276600" cy="508000"/>
          </a:xfrm>
          <a:prstGeom prst="roundRect">
            <a:avLst>
              <a:gd name="adj" fmla="val 8000"/>
            </a:avLst>
          </a:prstGeom>
          <a:solidFill>
            <a:srgbClr val="EB68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CEFC48F-A20A-3FCB-89E4-D2DB26CE5817}"/>
              </a:ext>
            </a:extLst>
          </p:cNvPr>
          <p:cNvSpPr txBox="1"/>
          <p:nvPr/>
        </p:nvSpPr>
        <p:spPr>
          <a:xfrm>
            <a:off x="711200" y="2832100"/>
            <a:ext cx="7493000" cy="369332"/>
          </a:xfrm>
          <a:prstGeom prst="rect">
            <a:avLst/>
          </a:prstGeom>
          <a:noFill/>
        </p:spPr>
        <p:txBody>
          <a:bodyPr vert="horz" wrap="square" lIns="0" tIns="0" rIns="0" bIns="0" rtlCol="0">
            <a:noAutofit/>
          </a:bodyPr>
          <a:lstStyle/>
          <a:p>
            <a:r>
              <a:rPr lang="en-US" sz="1500" b="1">
                <a:solidFill>
                  <a:srgbClr val="FFFFFF"/>
                </a:solidFill>
                <a:latin typeface="Calibri" panose="020F0502020204030204" pitchFamily="34" charset="0"/>
              </a:rPr>
              <a:t>BWP 0  =  slice A  (share from the intent)</a:t>
            </a:r>
          </a:p>
        </p:txBody>
      </p:sp>
      <p:sp>
        <p:nvSpPr>
          <p:cNvPr id="22" name="TextBox 21">
            <a:extLst>
              <a:ext uri="{FF2B5EF4-FFF2-40B4-BE49-F238E27FC236}">
                <a16:creationId xmlns:a16="http://schemas.microsoft.com/office/drawing/2014/main" id="{0B1F9BE3-2623-0185-6028-AEB5D827AF41}"/>
              </a:ext>
            </a:extLst>
          </p:cNvPr>
          <p:cNvSpPr txBox="1"/>
          <p:nvPr/>
        </p:nvSpPr>
        <p:spPr>
          <a:xfrm>
            <a:off x="8585200" y="2832100"/>
            <a:ext cx="2921000" cy="369332"/>
          </a:xfrm>
          <a:prstGeom prst="rect">
            <a:avLst/>
          </a:prstGeom>
          <a:noFill/>
        </p:spPr>
        <p:txBody>
          <a:bodyPr vert="horz" wrap="square" lIns="0" tIns="0" rIns="0" bIns="0" rtlCol="0">
            <a:noAutofit/>
          </a:bodyPr>
          <a:lstStyle/>
          <a:p>
            <a:r>
              <a:rPr lang="en-US" sz="1500" b="1">
                <a:solidFill>
                  <a:srgbClr val="FFFFFF"/>
                </a:solidFill>
                <a:latin typeface="Calibri" panose="020F0502020204030204" pitchFamily="34" charset="0"/>
              </a:rPr>
              <a:t>BWP 1  =  slice B</a:t>
            </a:r>
          </a:p>
        </p:txBody>
      </p:sp>
      <p:sp>
        <p:nvSpPr>
          <p:cNvPr id="23" name="Rectangle: Rounded Corners 22">
            <a:extLst>
              <a:ext uri="{FF2B5EF4-FFF2-40B4-BE49-F238E27FC236}">
                <a16:creationId xmlns:a16="http://schemas.microsoft.com/office/drawing/2014/main" id="{D0EC372E-89D7-F943-38C2-42A3ACF538ED}"/>
              </a:ext>
            </a:extLst>
          </p:cNvPr>
          <p:cNvSpPr/>
          <p:nvPr/>
        </p:nvSpPr>
        <p:spPr>
          <a:xfrm>
            <a:off x="508000" y="3454400"/>
            <a:ext cx="5461000" cy="1905000"/>
          </a:xfrm>
          <a:prstGeom prst="roundRect">
            <a:avLst>
              <a:gd name="adj" fmla="val 8000"/>
            </a:avLst>
          </a:prstGeom>
          <a:solidFill>
            <a:srgbClr val="E3EE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2DDA3CF-22C4-9E3A-A239-9FCF21DA6D5B}"/>
              </a:ext>
            </a:extLst>
          </p:cNvPr>
          <p:cNvSpPr txBox="1"/>
          <p:nvPr/>
        </p:nvSpPr>
        <p:spPr>
          <a:xfrm>
            <a:off x="736600" y="3657600"/>
            <a:ext cx="5080000" cy="369332"/>
          </a:xfrm>
          <a:prstGeom prst="rect">
            <a:avLst/>
          </a:prstGeom>
          <a:noFill/>
        </p:spPr>
        <p:txBody>
          <a:bodyPr vert="horz" wrap="square" lIns="0" tIns="0" rIns="0" bIns="0" rtlCol="0">
            <a:noAutofit/>
          </a:bodyPr>
          <a:lstStyle/>
          <a:p>
            <a:r>
              <a:rPr lang="en-US" sz="1300" b="1">
                <a:solidFill>
                  <a:srgbClr val="2A78D6"/>
                </a:solidFill>
                <a:latin typeface="Calibri" panose="020F0502020204030204" pitchFamily="34" charset="0"/>
              </a:rPr>
              <a:t>SLICE A  |  eMBB video  |  5QI 9</a:t>
            </a:r>
          </a:p>
        </p:txBody>
      </p:sp>
      <p:sp>
        <p:nvSpPr>
          <p:cNvPr id="25" name="TextBox 24">
            <a:extLst>
              <a:ext uri="{FF2B5EF4-FFF2-40B4-BE49-F238E27FC236}">
                <a16:creationId xmlns:a16="http://schemas.microsoft.com/office/drawing/2014/main" id="{D2B81734-37B7-A37F-62C4-86E368D83736}"/>
              </a:ext>
            </a:extLst>
          </p:cNvPr>
          <p:cNvSpPr txBox="1"/>
          <p:nvPr/>
        </p:nvSpPr>
        <p:spPr>
          <a:xfrm>
            <a:off x="736600" y="3987800"/>
            <a:ext cx="5080000" cy="369332"/>
          </a:xfrm>
          <a:prstGeom prst="rect">
            <a:avLst/>
          </a:prstGeom>
          <a:noFill/>
        </p:spPr>
        <p:txBody>
          <a:bodyPr vert="horz" wrap="square" lIns="0" tIns="0" rIns="0" bIns="0" rtlCol="0">
            <a:noAutofit/>
          </a:bodyPr>
          <a:lstStyle/>
          <a:p>
            <a:r>
              <a:rPr lang="en-US" sz="1700">
                <a:solidFill>
                  <a:srgbClr val="13293D"/>
                </a:solidFill>
                <a:latin typeface="Calibri" panose="020F0502020204030204" pitchFamily="34" charset="0"/>
              </a:rPr>
              <a:t>2 UEs, 30 Mbps each</a:t>
            </a:r>
          </a:p>
          <a:p>
            <a:r>
              <a:rPr lang="en-US" sz="1700">
                <a:solidFill>
                  <a:srgbClr val="13293D"/>
                </a:solidFill>
                <a:latin typeface="Calibri" panose="020F0502020204030204" pitchFamily="34" charset="0"/>
              </a:rPr>
              <a:t>XR video from my XrVideoApp</a:t>
            </a:r>
          </a:p>
          <a:p>
            <a:r>
              <a:rPr lang="en-US" sz="1700">
                <a:solidFill>
                  <a:srgbClr val="13293D"/>
                </a:solidFill>
                <a:latin typeface="Calibri" panose="020F0502020204030204" pitchFamily="34" charset="0"/>
              </a:rPr>
              <a:t>(3GPP TR 26.926 model)</a:t>
            </a:r>
          </a:p>
        </p:txBody>
      </p:sp>
      <p:sp>
        <p:nvSpPr>
          <p:cNvPr id="26" name="Rectangle: Rounded Corners 25">
            <a:extLst>
              <a:ext uri="{FF2B5EF4-FFF2-40B4-BE49-F238E27FC236}">
                <a16:creationId xmlns:a16="http://schemas.microsoft.com/office/drawing/2014/main" id="{B875F04B-65B7-2ED0-CC76-92CAD257909C}"/>
              </a:ext>
            </a:extLst>
          </p:cNvPr>
          <p:cNvSpPr/>
          <p:nvPr/>
        </p:nvSpPr>
        <p:spPr>
          <a:xfrm>
            <a:off x="6223000" y="3454400"/>
            <a:ext cx="5461000" cy="1905000"/>
          </a:xfrm>
          <a:prstGeom prst="roundRect">
            <a:avLst>
              <a:gd name="adj" fmla="val 8000"/>
            </a:avLst>
          </a:prstGeom>
          <a:solidFill>
            <a:srgbClr val="FDEBE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0019835-8C1E-6542-2615-9E36C6627459}"/>
              </a:ext>
            </a:extLst>
          </p:cNvPr>
          <p:cNvSpPr txBox="1"/>
          <p:nvPr/>
        </p:nvSpPr>
        <p:spPr>
          <a:xfrm>
            <a:off x="6451600" y="3657600"/>
            <a:ext cx="5080000" cy="369332"/>
          </a:xfrm>
          <a:prstGeom prst="rect">
            <a:avLst/>
          </a:prstGeom>
          <a:noFill/>
        </p:spPr>
        <p:txBody>
          <a:bodyPr vert="horz" wrap="square" lIns="0" tIns="0" rIns="0" bIns="0" rtlCol="0">
            <a:noAutofit/>
          </a:bodyPr>
          <a:lstStyle/>
          <a:p>
            <a:r>
              <a:rPr lang="en-US" sz="1300" b="1">
                <a:solidFill>
                  <a:srgbClr val="EB6834"/>
                </a:solidFill>
                <a:latin typeface="Calibri" panose="020F0502020204030204" pitchFamily="34" charset="0"/>
              </a:rPr>
              <a:t>SLICE B  |  low latency  |  5QI 80</a:t>
            </a:r>
          </a:p>
        </p:txBody>
      </p:sp>
      <p:sp>
        <p:nvSpPr>
          <p:cNvPr id="28" name="TextBox 27">
            <a:extLst>
              <a:ext uri="{FF2B5EF4-FFF2-40B4-BE49-F238E27FC236}">
                <a16:creationId xmlns:a16="http://schemas.microsoft.com/office/drawing/2014/main" id="{3BD3B6A5-CF93-DBF4-942A-0471A9A06516}"/>
              </a:ext>
            </a:extLst>
          </p:cNvPr>
          <p:cNvSpPr txBox="1"/>
          <p:nvPr/>
        </p:nvSpPr>
        <p:spPr>
          <a:xfrm>
            <a:off x="6451600" y="3987800"/>
            <a:ext cx="5080000" cy="369332"/>
          </a:xfrm>
          <a:prstGeom prst="rect">
            <a:avLst/>
          </a:prstGeom>
          <a:noFill/>
        </p:spPr>
        <p:txBody>
          <a:bodyPr vert="horz" wrap="square" lIns="0" tIns="0" rIns="0" bIns="0" rtlCol="0">
            <a:noAutofit/>
          </a:bodyPr>
          <a:lstStyle/>
          <a:p>
            <a:r>
              <a:rPr lang="en-US" sz="1700">
                <a:solidFill>
                  <a:srgbClr val="13293D"/>
                </a:solidFill>
                <a:latin typeface="Calibri" panose="020F0502020204030204" pitchFamily="34" charset="0"/>
              </a:rPr>
              <a:t>2 UEs: 100 B every 4 ms (light)</a:t>
            </a:r>
          </a:p>
          <a:p>
            <a:r>
              <a:rPr lang="en-US" sz="1700">
                <a:solidFill>
                  <a:srgbClr val="13293D"/>
                </a:solidFill>
                <a:latin typeface="Calibri" panose="020F0502020204030204" pitchFamily="34" charset="0"/>
              </a:rPr>
              <a:t>or 1 000 B every 0.4 ms (heavy, 20 Mbps each)</a:t>
            </a:r>
          </a:p>
          <a:p>
            <a:r>
              <a:rPr lang="en-US" sz="1700">
                <a:solidFill>
                  <a:srgbClr val="13293D"/>
                </a:solidFill>
                <a:latin typeface="Calibri" panose="020F0502020204030204" pitchFamily="34" charset="0"/>
              </a:rPr>
              <a:t>SLA: p95 delay &lt;= 10 ms, loss &lt;= 1 %</a:t>
            </a:r>
          </a:p>
        </p:txBody>
      </p:sp>
      <p:sp>
        <p:nvSpPr>
          <p:cNvPr id="29" name="TextBox 28">
            <a:extLst>
              <a:ext uri="{FF2B5EF4-FFF2-40B4-BE49-F238E27FC236}">
                <a16:creationId xmlns:a16="http://schemas.microsoft.com/office/drawing/2014/main" id="{582234AD-2391-CBFD-D1B9-A8FCE98313A4}"/>
              </a:ext>
            </a:extLst>
          </p:cNvPr>
          <p:cNvSpPr txBox="1"/>
          <p:nvPr/>
        </p:nvSpPr>
        <p:spPr>
          <a:xfrm>
            <a:off x="508000" y="6451600"/>
            <a:ext cx="6350000" cy="369332"/>
          </a:xfrm>
          <a:prstGeom prst="rect">
            <a:avLst/>
          </a:prstGeom>
          <a:noFill/>
        </p:spPr>
        <p:txBody>
          <a:bodyPr vert="horz" wrap="square" lIns="0" tIns="0" rIns="0" bIns="0" rtlCol="0">
            <a:noAutofit/>
          </a:bodyPr>
          <a:lstStyle/>
          <a:p>
            <a:r>
              <a:rPr lang="en-US" sz="1000">
                <a:solidFill>
                  <a:srgbClr val="52514E"/>
                </a:solidFill>
                <a:latin typeface="Calibri" panose="020F0502020204030204" pitchFamily="34" charset="0"/>
              </a:rPr>
              <a:t>Petrajoy Davidson  |  A2: ns-3 Setup &amp; Traffic Model</a:t>
            </a:r>
          </a:p>
        </p:txBody>
      </p:sp>
      <p:sp>
        <p:nvSpPr>
          <p:cNvPr id="30" name="TextBox 29">
            <a:extLst>
              <a:ext uri="{FF2B5EF4-FFF2-40B4-BE49-F238E27FC236}">
                <a16:creationId xmlns:a16="http://schemas.microsoft.com/office/drawing/2014/main" id="{0B641695-9816-F0E3-803E-2977CA1897CC}"/>
              </a:ext>
            </a:extLst>
          </p:cNvPr>
          <p:cNvSpPr txBox="1"/>
          <p:nvPr/>
        </p:nvSpPr>
        <p:spPr>
          <a:xfrm>
            <a:off x="10414000" y="6451600"/>
            <a:ext cx="1270000" cy="369332"/>
          </a:xfrm>
          <a:prstGeom prst="rect">
            <a:avLst/>
          </a:prstGeom>
          <a:noFill/>
        </p:spPr>
        <p:txBody>
          <a:bodyPr vert="horz" wrap="square" lIns="0" tIns="0" rIns="0" bIns="0" rtlCol="0">
            <a:noAutofit/>
          </a:bodyPr>
          <a:lstStyle/>
          <a:p>
            <a:pPr algn="r"/>
            <a:r>
              <a:rPr lang="en-US" sz="1000">
                <a:solidFill>
                  <a:srgbClr val="52514E"/>
                </a:solidFill>
                <a:latin typeface="Calibri" panose="020F0502020204030204" pitchFamily="34" charset="0"/>
              </a:rPr>
              <a:t>6 / 10</a:t>
            </a:r>
          </a:p>
        </p:txBody>
      </p:sp>
    </p:spTree>
    <p:extLst>
      <p:ext uri="{BB962C8B-B14F-4D97-AF65-F5344CB8AC3E}">
        <p14:creationId xmlns:p14="http://schemas.microsoft.com/office/powerpoint/2010/main" val="1012584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9A1C977-481E-6AB9-8E73-99930A18C494}"/>
              </a:ext>
            </a:extLst>
          </p:cNvPr>
          <p:cNvSpPr txBox="1"/>
          <p:nvPr/>
        </p:nvSpPr>
        <p:spPr>
          <a:xfrm>
            <a:off x="508000" y="330200"/>
            <a:ext cx="11176000" cy="369332"/>
          </a:xfrm>
          <a:prstGeom prst="rect">
            <a:avLst/>
          </a:prstGeom>
          <a:noFill/>
        </p:spPr>
        <p:txBody>
          <a:bodyPr vert="horz" wrap="square" lIns="0" tIns="0" rIns="0" bIns="0" rtlCol="0">
            <a:noAutofit/>
          </a:bodyPr>
          <a:lstStyle/>
          <a:p>
            <a:r>
              <a:rPr lang="en-US" sz="3000" b="1">
                <a:solidFill>
                  <a:srgbClr val="13293D"/>
                </a:solidFill>
                <a:latin typeface="Cambria" panose="02040503050406030204" pitchFamily="18" charset="0"/>
              </a:rPr>
              <a:t>My traffic matches the 3GPP model</a:t>
            </a:r>
          </a:p>
        </p:txBody>
      </p:sp>
      <p:pic>
        <p:nvPicPr>
          <p:cNvPr id="4" name="Picture 3">
            <a:extLst>
              <a:ext uri="{FF2B5EF4-FFF2-40B4-BE49-F238E27FC236}">
                <a16:creationId xmlns:a16="http://schemas.microsoft.com/office/drawing/2014/main" id="{F193D287-EC14-A3D0-6358-F0316EB150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7631" y="965200"/>
            <a:ext cx="4556369" cy="5384800"/>
          </a:xfrm>
          <a:prstGeom prst="rect">
            <a:avLst/>
          </a:prstGeom>
        </p:spPr>
      </p:pic>
      <p:sp>
        <p:nvSpPr>
          <p:cNvPr id="5" name="TextBox 4">
            <a:extLst>
              <a:ext uri="{FF2B5EF4-FFF2-40B4-BE49-F238E27FC236}">
                <a16:creationId xmlns:a16="http://schemas.microsoft.com/office/drawing/2014/main" id="{F39C6C78-2432-B473-3EFB-8F4E1BEB4C31}"/>
              </a:ext>
            </a:extLst>
          </p:cNvPr>
          <p:cNvSpPr txBox="1"/>
          <p:nvPr/>
        </p:nvSpPr>
        <p:spPr>
          <a:xfrm>
            <a:off x="508000" y="1219200"/>
            <a:ext cx="5588000" cy="369332"/>
          </a:xfrm>
          <a:prstGeom prst="rect">
            <a:avLst/>
          </a:prstGeom>
          <a:noFill/>
        </p:spPr>
        <p:txBody>
          <a:bodyPr vert="horz" wrap="square" lIns="0" tIns="0" rIns="0" bIns="0" rtlCol="0">
            <a:noAutofit/>
          </a:bodyPr>
          <a:lstStyle/>
          <a:p>
            <a:r>
              <a:rPr lang="en-US" sz="1300" b="1">
                <a:solidFill>
                  <a:srgbClr val="2A78D6"/>
                </a:solidFill>
                <a:latin typeface="Calibri" panose="020F0502020204030204" pitchFamily="34" charset="0"/>
              </a:rPr>
              <a:t>KS TEST AGAINST THE MODEL (660 FRAMES)</a:t>
            </a:r>
          </a:p>
        </p:txBody>
      </p:sp>
      <p:sp>
        <p:nvSpPr>
          <p:cNvPr id="6" name="TextBox 5">
            <a:extLst>
              <a:ext uri="{FF2B5EF4-FFF2-40B4-BE49-F238E27FC236}">
                <a16:creationId xmlns:a16="http://schemas.microsoft.com/office/drawing/2014/main" id="{3F0FC0F4-BA3B-E169-AC35-61B5293DB4FA}"/>
              </a:ext>
            </a:extLst>
          </p:cNvPr>
          <p:cNvSpPr txBox="1"/>
          <p:nvPr/>
        </p:nvSpPr>
        <p:spPr>
          <a:xfrm>
            <a:off x="508000" y="1574800"/>
            <a:ext cx="2540000" cy="369332"/>
          </a:xfrm>
          <a:prstGeom prst="rect">
            <a:avLst/>
          </a:prstGeom>
          <a:noFill/>
        </p:spPr>
        <p:txBody>
          <a:bodyPr vert="horz" wrap="square" lIns="0" tIns="0" rIns="0" bIns="0" rtlCol="0">
            <a:noAutofit/>
          </a:bodyPr>
          <a:lstStyle/>
          <a:p>
            <a:r>
              <a:rPr lang="en-US" sz="3400" b="1">
                <a:solidFill>
                  <a:srgbClr val="13293D"/>
                </a:solidFill>
                <a:latin typeface="Cambria" panose="02040503050406030204" pitchFamily="18" charset="0"/>
              </a:rPr>
              <a:t>p = 0.38</a:t>
            </a:r>
          </a:p>
        </p:txBody>
      </p:sp>
      <p:sp>
        <p:nvSpPr>
          <p:cNvPr id="7" name="TextBox 6">
            <a:extLst>
              <a:ext uri="{FF2B5EF4-FFF2-40B4-BE49-F238E27FC236}">
                <a16:creationId xmlns:a16="http://schemas.microsoft.com/office/drawing/2014/main" id="{562151B6-162F-F29A-0BFE-0CD8C67FF827}"/>
              </a:ext>
            </a:extLst>
          </p:cNvPr>
          <p:cNvSpPr txBox="1"/>
          <p:nvPr/>
        </p:nvSpPr>
        <p:spPr>
          <a:xfrm>
            <a:off x="3048000" y="1752600"/>
            <a:ext cx="2794000" cy="369332"/>
          </a:xfrm>
          <a:prstGeom prst="rect">
            <a:avLst/>
          </a:prstGeom>
          <a:noFill/>
        </p:spPr>
        <p:txBody>
          <a:bodyPr vert="horz" wrap="square" lIns="0" tIns="0" rIns="0" bIns="0" rtlCol="0">
            <a:noAutofit/>
          </a:bodyPr>
          <a:lstStyle/>
          <a:p>
            <a:r>
              <a:rPr lang="en-US" sz="1700">
                <a:solidFill>
                  <a:srgbClr val="52514E"/>
                </a:solidFill>
                <a:latin typeface="Calibri" panose="020F0502020204030204" pitchFamily="34" charset="0"/>
              </a:rPr>
              <a:t>frame size</a:t>
            </a:r>
          </a:p>
        </p:txBody>
      </p:sp>
      <p:sp>
        <p:nvSpPr>
          <p:cNvPr id="8" name="TextBox 7">
            <a:extLst>
              <a:ext uri="{FF2B5EF4-FFF2-40B4-BE49-F238E27FC236}">
                <a16:creationId xmlns:a16="http://schemas.microsoft.com/office/drawing/2014/main" id="{9C6B6AAA-62FA-181F-41AC-426261C24F6F}"/>
              </a:ext>
            </a:extLst>
          </p:cNvPr>
          <p:cNvSpPr txBox="1"/>
          <p:nvPr/>
        </p:nvSpPr>
        <p:spPr>
          <a:xfrm>
            <a:off x="508000" y="2565400"/>
            <a:ext cx="2540000" cy="369332"/>
          </a:xfrm>
          <a:prstGeom prst="rect">
            <a:avLst/>
          </a:prstGeom>
          <a:noFill/>
        </p:spPr>
        <p:txBody>
          <a:bodyPr vert="horz" wrap="square" lIns="0" tIns="0" rIns="0" bIns="0" rtlCol="0">
            <a:noAutofit/>
          </a:bodyPr>
          <a:lstStyle/>
          <a:p>
            <a:r>
              <a:rPr lang="en-US" sz="3400" b="1">
                <a:solidFill>
                  <a:srgbClr val="13293D"/>
                </a:solidFill>
                <a:latin typeface="Cambria" panose="02040503050406030204" pitchFamily="18" charset="0"/>
              </a:rPr>
              <a:t>p = 0.98</a:t>
            </a:r>
          </a:p>
        </p:txBody>
      </p:sp>
      <p:sp>
        <p:nvSpPr>
          <p:cNvPr id="9" name="TextBox 8">
            <a:extLst>
              <a:ext uri="{FF2B5EF4-FFF2-40B4-BE49-F238E27FC236}">
                <a16:creationId xmlns:a16="http://schemas.microsoft.com/office/drawing/2014/main" id="{FBC4FA2F-78F0-B613-414A-81BD022D35A1}"/>
              </a:ext>
            </a:extLst>
          </p:cNvPr>
          <p:cNvSpPr txBox="1"/>
          <p:nvPr/>
        </p:nvSpPr>
        <p:spPr>
          <a:xfrm>
            <a:off x="3048000" y="2743200"/>
            <a:ext cx="2794000" cy="369332"/>
          </a:xfrm>
          <a:prstGeom prst="rect">
            <a:avLst/>
          </a:prstGeom>
          <a:noFill/>
        </p:spPr>
        <p:txBody>
          <a:bodyPr vert="horz" wrap="square" lIns="0" tIns="0" rIns="0" bIns="0" rtlCol="0">
            <a:noAutofit/>
          </a:bodyPr>
          <a:lstStyle/>
          <a:p>
            <a:r>
              <a:rPr lang="en-US" sz="1700">
                <a:solidFill>
                  <a:srgbClr val="52514E"/>
                </a:solidFill>
                <a:latin typeface="Calibri" panose="020F0502020204030204" pitchFamily="34" charset="0"/>
              </a:rPr>
              <a:t>frame jitter</a:t>
            </a:r>
          </a:p>
        </p:txBody>
      </p:sp>
      <p:sp>
        <p:nvSpPr>
          <p:cNvPr id="10" name="TextBox 9">
            <a:extLst>
              <a:ext uri="{FF2B5EF4-FFF2-40B4-BE49-F238E27FC236}">
                <a16:creationId xmlns:a16="http://schemas.microsoft.com/office/drawing/2014/main" id="{FD1E0555-7BD7-37AB-DD28-A881C73DF760}"/>
              </a:ext>
            </a:extLst>
          </p:cNvPr>
          <p:cNvSpPr txBox="1"/>
          <p:nvPr/>
        </p:nvSpPr>
        <p:spPr>
          <a:xfrm>
            <a:off x="508000" y="3556000"/>
            <a:ext cx="2540000" cy="369332"/>
          </a:xfrm>
          <a:prstGeom prst="rect">
            <a:avLst/>
          </a:prstGeom>
          <a:noFill/>
        </p:spPr>
        <p:txBody>
          <a:bodyPr vert="horz" wrap="square" lIns="0" tIns="0" rIns="0" bIns="0" rtlCol="0">
            <a:noAutofit/>
          </a:bodyPr>
          <a:lstStyle/>
          <a:p>
            <a:r>
              <a:rPr lang="en-US" sz="3400" b="1">
                <a:solidFill>
                  <a:srgbClr val="13293D"/>
                </a:solidFill>
                <a:latin typeface="Cambria" panose="02040503050406030204" pitchFamily="18" charset="0"/>
              </a:rPr>
              <a:t>p = 0.95</a:t>
            </a:r>
          </a:p>
        </p:txBody>
      </p:sp>
      <p:sp>
        <p:nvSpPr>
          <p:cNvPr id="11" name="TextBox 10">
            <a:extLst>
              <a:ext uri="{FF2B5EF4-FFF2-40B4-BE49-F238E27FC236}">
                <a16:creationId xmlns:a16="http://schemas.microsoft.com/office/drawing/2014/main" id="{B6F40148-9A46-178A-E848-779742A7D4B8}"/>
              </a:ext>
            </a:extLst>
          </p:cNvPr>
          <p:cNvSpPr txBox="1"/>
          <p:nvPr/>
        </p:nvSpPr>
        <p:spPr>
          <a:xfrm>
            <a:off x="3048000" y="3733800"/>
            <a:ext cx="2794000" cy="369332"/>
          </a:xfrm>
          <a:prstGeom prst="rect">
            <a:avLst/>
          </a:prstGeom>
          <a:noFill/>
        </p:spPr>
        <p:txBody>
          <a:bodyPr vert="horz" wrap="square" lIns="0" tIns="0" rIns="0" bIns="0" rtlCol="0">
            <a:noAutofit/>
          </a:bodyPr>
          <a:lstStyle/>
          <a:p>
            <a:r>
              <a:rPr lang="en-US" sz="1700">
                <a:solidFill>
                  <a:srgbClr val="52514E"/>
                </a:solidFill>
                <a:latin typeface="Calibri" panose="020F0502020204030204" pitchFamily="34" charset="0"/>
              </a:rPr>
              <a:t>frame inter-arrival</a:t>
            </a:r>
          </a:p>
        </p:txBody>
      </p:sp>
      <p:sp>
        <p:nvSpPr>
          <p:cNvPr id="12" name="TextBox 11">
            <a:extLst>
              <a:ext uri="{FF2B5EF4-FFF2-40B4-BE49-F238E27FC236}">
                <a16:creationId xmlns:a16="http://schemas.microsoft.com/office/drawing/2014/main" id="{666756BB-973F-F8C5-8A71-CDE77344AC90}"/>
              </a:ext>
            </a:extLst>
          </p:cNvPr>
          <p:cNvSpPr txBox="1"/>
          <p:nvPr/>
        </p:nvSpPr>
        <p:spPr>
          <a:xfrm>
            <a:off x="508000" y="4622800"/>
            <a:ext cx="5588000" cy="369332"/>
          </a:xfrm>
          <a:prstGeom prst="rect">
            <a:avLst/>
          </a:prstGeom>
          <a:noFill/>
        </p:spPr>
        <p:txBody>
          <a:bodyPr vert="horz" wrap="square" lIns="0" tIns="0" rIns="0" bIns="0" rtlCol="0">
            <a:noAutofit/>
          </a:bodyPr>
          <a:lstStyle/>
          <a:p>
            <a:r>
              <a:rPr lang="en-US" sz="1600" b="1">
                <a:solidFill>
                  <a:srgbClr val="13293D"/>
                </a:solidFill>
                <a:latin typeface="Calibri" panose="020F0502020204030204" pitchFamily="34" charset="0"/>
              </a:rPr>
              <a:t>All p &gt; 0.05: no evidence that my generator differs from the model.</a:t>
            </a:r>
          </a:p>
        </p:txBody>
      </p:sp>
      <p:sp>
        <p:nvSpPr>
          <p:cNvPr id="13" name="TextBox 12">
            <a:extLst>
              <a:ext uri="{FF2B5EF4-FFF2-40B4-BE49-F238E27FC236}">
                <a16:creationId xmlns:a16="http://schemas.microsoft.com/office/drawing/2014/main" id="{90F2140A-B790-E78F-AE7A-4E02B0D510FF}"/>
              </a:ext>
            </a:extLst>
          </p:cNvPr>
          <p:cNvSpPr txBox="1"/>
          <p:nvPr/>
        </p:nvSpPr>
        <p:spPr>
          <a:xfrm>
            <a:off x="508000" y="5257800"/>
            <a:ext cx="5588000" cy="369332"/>
          </a:xfrm>
          <a:prstGeom prst="rect">
            <a:avLst/>
          </a:prstGeom>
          <a:noFill/>
        </p:spPr>
        <p:txBody>
          <a:bodyPr vert="horz" wrap="square" lIns="0" tIns="0" rIns="0" bIns="0" rtlCol="0">
            <a:noAutofit/>
          </a:bodyPr>
          <a:lstStyle/>
          <a:p>
            <a:r>
              <a:rPr lang="en-US" sz="1500">
                <a:solidFill>
                  <a:srgbClr val="52514E"/>
                </a:solidFill>
                <a:latin typeface="Calibri" panose="020F0502020204030204" pitchFamily="34" charset="0"/>
              </a:rPr>
              <a:t>Means: 62.3 vs 62.5 kB per frame, 16.66 vs 16.67 ms between frames.</a:t>
            </a:r>
          </a:p>
        </p:txBody>
      </p:sp>
      <p:sp>
        <p:nvSpPr>
          <p:cNvPr id="14" name="TextBox 13">
            <a:extLst>
              <a:ext uri="{FF2B5EF4-FFF2-40B4-BE49-F238E27FC236}">
                <a16:creationId xmlns:a16="http://schemas.microsoft.com/office/drawing/2014/main" id="{EB993759-7A1E-9202-EA28-9D8825A62C51}"/>
              </a:ext>
            </a:extLst>
          </p:cNvPr>
          <p:cNvSpPr txBox="1"/>
          <p:nvPr/>
        </p:nvSpPr>
        <p:spPr>
          <a:xfrm>
            <a:off x="508000" y="5867400"/>
            <a:ext cx="5588000" cy="369332"/>
          </a:xfrm>
          <a:prstGeom prst="rect">
            <a:avLst/>
          </a:prstGeom>
          <a:noFill/>
        </p:spPr>
        <p:txBody>
          <a:bodyPr vert="horz" wrap="square" lIns="0" tIns="0" rIns="0" bIns="0" rtlCol="0">
            <a:noAutofit/>
          </a:bodyPr>
          <a:lstStyle/>
          <a:p>
            <a:r>
              <a:rPr lang="en-US" sz="1300">
                <a:solidFill>
                  <a:srgbClr val="52514E"/>
                </a:solidFill>
                <a:latin typeface="Calibri" panose="020F0502020204030204" pitchFamily="34" charset="0"/>
              </a:rPr>
              <a:t>Blue = my ns-3 run, orange = 3GPP model</a:t>
            </a:r>
          </a:p>
        </p:txBody>
      </p:sp>
      <p:sp>
        <p:nvSpPr>
          <p:cNvPr id="15" name="TextBox 14">
            <a:extLst>
              <a:ext uri="{FF2B5EF4-FFF2-40B4-BE49-F238E27FC236}">
                <a16:creationId xmlns:a16="http://schemas.microsoft.com/office/drawing/2014/main" id="{E6A4B13E-D509-86A8-C2E3-BC5BF25F0110}"/>
              </a:ext>
            </a:extLst>
          </p:cNvPr>
          <p:cNvSpPr txBox="1"/>
          <p:nvPr/>
        </p:nvSpPr>
        <p:spPr>
          <a:xfrm>
            <a:off x="508000" y="6451600"/>
            <a:ext cx="6350000" cy="369332"/>
          </a:xfrm>
          <a:prstGeom prst="rect">
            <a:avLst/>
          </a:prstGeom>
          <a:noFill/>
        </p:spPr>
        <p:txBody>
          <a:bodyPr vert="horz" wrap="square" lIns="0" tIns="0" rIns="0" bIns="0" rtlCol="0">
            <a:noAutofit/>
          </a:bodyPr>
          <a:lstStyle/>
          <a:p>
            <a:r>
              <a:rPr lang="en-US" sz="1000">
                <a:solidFill>
                  <a:srgbClr val="52514E"/>
                </a:solidFill>
                <a:latin typeface="Calibri" panose="020F0502020204030204" pitchFamily="34" charset="0"/>
              </a:rPr>
              <a:t>Petrajoy Davidson  |  A2: ns-3 Setup &amp; Traffic Model</a:t>
            </a:r>
          </a:p>
        </p:txBody>
      </p:sp>
      <p:sp>
        <p:nvSpPr>
          <p:cNvPr id="16" name="TextBox 15">
            <a:extLst>
              <a:ext uri="{FF2B5EF4-FFF2-40B4-BE49-F238E27FC236}">
                <a16:creationId xmlns:a16="http://schemas.microsoft.com/office/drawing/2014/main" id="{17B14304-E621-871A-2F9C-D7FD416ED425}"/>
              </a:ext>
            </a:extLst>
          </p:cNvPr>
          <p:cNvSpPr txBox="1"/>
          <p:nvPr/>
        </p:nvSpPr>
        <p:spPr>
          <a:xfrm>
            <a:off x="10414000" y="6451600"/>
            <a:ext cx="1270000" cy="369332"/>
          </a:xfrm>
          <a:prstGeom prst="rect">
            <a:avLst/>
          </a:prstGeom>
          <a:noFill/>
        </p:spPr>
        <p:txBody>
          <a:bodyPr vert="horz" wrap="square" lIns="0" tIns="0" rIns="0" bIns="0" rtlCol="0">
            <a:noAutofit/>
          </a:bodyPr>
          <a:lstStyle/>
          <a:p>
            <a:pPr algn="r"/>
            <a:r>
              <a:rPr lang="en-US" sz="1000">
                <a:solidFill>
                  <a:srgbClr val="52514E"/>
                </a:solidFill>
                <a:latin typeface="Calibri" panose="020F0502020204030204" pitchFamily="34" charset="0"/>
              </a:rPr>
              <a:t>7 / 10</a:t>
            </a:r>
          </a:p>
        </p:txBody>
      </p:sp>
    </p:spTree>
    <p:extLst>
      <p:ext uri="{BB962C8B-B14F-4D97-AF65-F5344CB8AC3E}">
        <p14:creationId xmlns:p14="http://schemas.microsoft.com/office/powerpoint/2010/main" val="2875509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AF5BE93-79B2-9A56-975A-895CE0AAA110}"/>
              </a:ext>
            </a:extLst>
          </p:cNvPr>
          <p:cNvSpPr txBox="1"/>
          <p:nvPr/>
        </p:nvSpPr>
        <p:spPr>
          <a:xfrm>
            <a:off x="508000" y="330200"/>
            <a:ext cx="11176000" cy="369332"/>
          </a:xfrm>
          <a:prstGeom prst="rect">
            <a:avLst/>
          </a:prstGeom>
          <a:noFill/>
        </p:spPr>
        <p:txBody>
          <a:bodyPr vert="horz" wrap="square" lIns="0" tIns="0" rIns="0" bIns="0" rtlCol="0">
            <a:noAutofit/>
          </a:bodyPr>
          <a:lstStyle/>
          <a:p>
            <a:r>
              <a:rPr lang="en-US" sz="3000" b="1">
                <a:solidFill>
                  <a:srgbClr val="13293D"/>
                </a:solidFill>
                <a:latin typeface="Cambria" panose="02040503050406030204" pitchFamily="18" charset="0"/>
              </a:rPr>
              <a:t>Proof on the wire</a:t>
            </a:r>
          </a:p>
        </p:txBody>
      </p:sp>
      <p:pic>
        <p:nvPicPr>
          <p:cNvPr id="4" name="Picture 3">
            <a:extLst>
              <a:ext uri="{FF2B5EF4-FFF2-40B4-BE49-F238E27FC236}">
                <a16:creationId xmlns:a16="http://schemas.microsoft.com/office/drawing/2014/main" id="{1AC6FDE6-2387-DDEA-B84A-AD6428E514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1168400"/>
            <a:ext cx="7493000" cy="3304808"/>
          </a:xfrm>
          <a:prstGeom prst="rect">
            <a:avLst/>
          </a:prstGeom>
        </p:spPr>
      </p:pic>
      <p:sp>
        <p:nvSpPr>
          <p:cNvPr id="5" name="TextBox 4">
            <a:extLst>
              <a:ext uri="{FF2B5EF4-FFF2-40B4-BE49-F238E27FC236}">
                <a16:creationId xmlns:a16="http://schemas.microsoft.com/office/drawing/2014/main" id="{D5E98E52-CB35-CE6E-6BC6-BDF450EA95F4}"/>
              </a:ext>
            </a:extLst>
          </p:cNvPr>
          <p:cNvSpPr txBox="1"/>
          <p:nvPr/>
        </p:nvSpPr>
        <p:spPr>
          <a:xfrm>
            <a:off x="508000" y="4625608"/>
            <a:ext cx="7493000" cy="369332"/>
          </a:xfrm>
          <a:prstGeom prst="rect">
            <a:avLst/>
          </a:prstGeom>
          <a:noFill/>
        </p:spPr>
        <p:txBody>
          <a:bodyPr vert="horz" wrap="square" lIns="0" tIns="0" rIns="0" bIns="0" rtlCol="0">
            <a:noAutofit/>
          </a:bodyPr>
          <a:lstStyle/>
          <a:p>
            <a:r>
              <a:rPr lang="en-US" sz="1400">
                <a:solidFill>
                  <a:srgbClr val="52514E"/>
                </a:solidFill>
                <a:latin typeface="Calibri" panose="020F0502020204030204" pitchFamily="34" charset="0"/>
              </a:rPr>
              <a:t>Wireshark I/O graph, 1 ms bins, first 1.2 s: one spike per video frame (red), slice B flat (blue). A ~500 kbit spike is one 62.5 kB frame.</a:t>
            </a:r>
          </a:p>
        </p:txBody>
      </p:sp>
      <p:sp>
        <p:nvSpPr>
          <p:cNvPr id="6" name="Rectangle: Rounded Corners 5">
            <a:extLst>
              <a:ext uri="{FF2B5EF4-FFF2-40B4-BE49-F238E27FC236}">
                <a16:creationId xmlns:a16="http://schemas.microsoft.com/office/drawing/2014/main" id="{EFFA50F4-1890-5723-0439-DE972E1F02BE}"/>
              </a:ext>
            </a:extLst>
          </p:cNvPr>
          <p:cNvSpPr/>
          <p:nvPr/>
        </p:nvSpPr>
        <p:spPr>
          <a:xfrm>
            <a:off x="8382000" y="1168400"/>
            <a:ext cx="3302000" cy="4826000"/>
          </a:xfrm>
          <a:prstGeom prst="roundRect">
            <a:avLst>
              <a:gd name="adj" fmla="val 8000"/>
            </a:avLst>
          </a:prstGeom>
          <a:solidFill>
            <a:srgbClr val="EEF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5D50E85-016D-5369-A8E0-2456312B5417}"/>
              </a:ext>
            </a:extLst>
          </p:cNvPr>
          <p:cNvSpPr txBox="1"/>
          <p:nvPr/>
        </p:nvSpPr>
        <p:spPr>
          <a:xfrm>
            <a:off x="8636000" y="1397000"/>
            <a:ext cx="2794000" cy="369332"/>
          </a:xfrm>
          <a:prstGeom prst="rect">
            <a:avLst/>
          </a:prstGeom>
          <a:noFill/>
        </p:spPr>
        <p:txBody>
          <a:bodyPr vert="horz" wrap="square" lIns="0" tIns="0" rIns="0" bIns="0" rtlCol="0">
            <a:noAutofit/>
          </a:bodyPr>
          <a:lstStyle/>
          <a:p>
            <a:r>
              <a:rPr lang="en-US" sz="1300" b="1">
                <a:solidFill>
                  <a:srgbClr val="2A78D6"/>
                </a:solidFill>
                <a:latin typeface="Calibri" panose="020F0502020204030204" pitchFamily="34" charset="0"/>
              </a:rPr>
              <a:t>VIDEO PACKETS COUNTED</a:t>
            </a:r>
          </a:p>
        </p:txBody>
      </p:sp>
      <p:sp>
        <p:nvSpPr>
          <p:cNvPr id="8" name="TextBox 7">
            <a:extLst>
              <a:ext uri="{FF2B5EF4-FFF2-40B4-BE49-F238E27FC236}">
                <a16:creationId xmlns:a16="http://schemas.microsoft.com/office/drawing/2014/main" id="{1BB0860E-AA75-FAEB-9004-7DAB39264A17}"/>
              </a:ext>
            </a:extLst>
          </p:cNvPr>
          <p:cNvSpPr txBox="1"/>
          <p:nvPr/>
        </p:nvSpPr>
        <p:spPr>
          <a:xfrm>
            <a:off x="8636000" y="1727200"/>
            <a:ext cx="2794000" cy="369332"/>
          </a:xfrm>
          <a:prstGeom prst="rect">
            <a:avLst/>
          </a:prstGeom>
          <a:noFill/>
        </p:spPr>
        <p:txBody>
          <a:bodyPr vert="horz" wrap="square" lIns="0" tIns="0" rIns="0" bIns="0" rtlCol="0">
            <a:noAutofit/>
          </a:bodyPr>
          <a:lstStyle/>
          <a:p>
            <a:r>
              <a:rPr lang="en-US" sz="4600" b="1">
                <a:solidFill>
                  <a:srgbClr val="13293D"/>
                </a:solidFill>
                <a:latin typeface="Cambria" panose="02040503050406030204" pitchFamily="18" charset="0"/>
              </a:rPr>
              <a:t>29 715</a:t>
            </a:r>
          </a:p>
        </p:txBody>
      </p:sp>
      <p:sp>
        <p:nvSpPr>
          <p:cNvPr id="9" name="TextBox 8">
            <a:extLst>
              <a:ext uri="{FF2B5EF4-FFF2-40B4-BE49-F238E27FC236}">
                <a16:creationId xmlns:a16="http://schemas.microsoft.com/office/drawing/2014/main" id="{6A241EF6-1A90-3637-2965-6F2EB81BE0E9}"/>
              </a:ext>
            </a:extLst>
          </p:cNvPr>
          <p:cNvSpPr txBox="1"/>
          <p:nvPr/>
        </p:nvSpPr>
        <p:spPr>
          <a:xfrm>
            <a:off x="8636000" y="2540000"/>
            <a:ext cx="2794000" cy="369332"/>
          </a:xfrm>
          <a:prstGeom prst="rect">
            <a:avLst/>
          </a:prstGeom>
          <a:noFill/>
        </p:spPr>
        <p:txBody>
          <a:bodyPr vert="horz" wrap="square" lIns="0" tIns="0" rIns="0" bIns="0" rtlCol="0">
            <a:noAutofit/>
          </a:bodyPr>
          <a:lstStyle/>
          <a:p>
            <a:r>
              <a:rPr lang="en-US" sz="1500">
                <a:solidFill>
                  <a:srgbClr val="52514E"/>
                </a:solidFill>
                <a:latin typeface="Calibri" panose="020F0502020204030204" pitchFamily="34" charset="0"/>
              </a:rPr>
              <a:t>in all three sources:</a:t>
            </a:r>
          </a:p>
        </p:txBody>
      </p:sp>
      <p:sp>
        <p:nvSpPr>
          <p:cNvPr id="10" name="TextBox 9">
            <a:extLst>
              <a:ext uri="{FF2B5EF4-FFF2-40B4-BE49-F238E27FC236}">
                <a16:creationId xmlns:a16="http://schemas.microsoft.com/office/drawing/2014/main" id="{37AA2D67-9E78-3BDF-0952-93BD2CD7EAD9}"/>
              </a:ext>
            </a:extLst>
          </p:cNvPr>
          <p:cNvSpPr txBox="1"/>
          <p:nvPr/>
        </p:nvSpPr>
        <p:spPr>
          <a:xfrm>
            <a:off x="8636000" y="2997200"/>
            <a:ext cx="1778000" cy="369332"/>
          </a:xfrm>
          <a:prstGeom prst="rect">
            <a:avLst/>
          </a:prstGeom>
          <a:noFill/>
        </p:spPr>
        <p:txBody>
          <a:bodyPr vert="horz" wrap="square" lIns="0" tIns="0" rIns="0" bIns="0" rtlCol="0">
            <a:noAutofit/>
          </a:bodyPr>
          <a:lstStyle/>
          <a:p>
            <a:r>
              <a:rPr lang="en-US" sz="1600">
                <a:solidFill>
                  <a:srgbClr val="13293D"/>
                </a:solidFill>
                <a:latin typeface="Calibri" panose="020F0502020204030204" pitchFamily="34" charset="0"/>
              </a:rPr>
              <a:t>Wireshark (PCAP)</a:t>
            </a:r>
          </a:p>
        </p:txBody>
      </p:sp>
      <p:sp>
        <p:nvSpPr>
          <p:cNvPr id="11" name="TextBox 10">
            <a:extLst>
              <a:ext uri="{FF2B5EF4-FFF2-40B4-BE49-F238E27FC236}">
                <a16:creationId xmlns:a16="http://schemas.microsoft.com/office/drawing/2014/main" id="{FA80BC83-4F24-AE5B-8040-486D4A097C5E}"/>
              </a:ext>
            </a:extLst>
          </p:cNvPr>
          <p:cNvSpPr txBox="1"/>
          <p:nvPr/>
        </p:nvSpPr>
        <p:spPr>
          <a:xfrm>
            <a:off x="10414000" y="2997200"/>
            <a:ext cx="1016000" cy="369332"/>
          </a:xfrm>
          <a:prstGeom prst="rect">
            <a:avLst/>
          </a:prstGeom>
          <a:noFill/>
        </p:spPr>
        <p:txBody>
          <a:bodyPr vert="horz" wrap="square" lIns="0" tIns="0" rIns="0" bIns="0" rtlCol="0">
            <a:noAutofit/>
          </a:bodyPr>
          <a:lstStyle/>
          <a:p>
            <a:pPr algn="r"/>
            <a:r>
              <a:rPr lang="en-US" sz="1600" b="1">
                <a:solidFill>
                  <a:srgbClr val="13293D"/>
                </a:solidFill>
                <a:latin typeface="Calibri" panose="020F0502020204030204" pitchFamily="34" charset="0"/>
              </a:rPr>
              <a:t>29 715</a:t>
            </a:r>
          </a:p>
        </p:txBody>
      </p:sp>
      <p:sp>
        <p:nvSpPr>
          <p:cNvPr id="12" name="TextBox 11">
            <a:extLst>
              <a:ext uri="{FF2B5EF4-FFF2-40B4-BE49-F238E27FC236}">
                <a16:creationId xmlns:a16="http://schemas.microsoft.com/office/drawing/2014/main" id="{CBC42E52-6333-2341-935A-D9C34B6D4C00}"/>
              </a:ext>
            </a:extLst>
          </p:cNvPr>
          <p:cNvSpPr txBox="1"/>
          <p:nvPr/>
        </p:nvSpPr>
        <p:spPr>
          <a:xfrm>
            <a:off x="8636000" y="3505200"/>
            <a:ext cx="1778000" cy="369332"/>
          </a:xfrm>
          <a:prstGeom prst="rect">
            <a:avLst/>
          </a:prstGeom>
          <a:noFill/>
        </p:spPr>
        <p:txBody>
          <a:bodyPr vert="horz" wrap="square" lIns="0" tIns="0" rIns="0" bIns="0" rtlCol="0">
            <a:noAutofit/>
          </a:bodyPr>
          <a:lstStyle/>
          <a:p>
            <a:r>
              <a:rPr lang="en-US" sz="1600">
                <a:solidFill>
                  <a:srgbClr val="13293D"/>
                </a:solidFill>
                <a:latin typeface="Calibri" panose="020F0502020204030204" pitchFamily="34" charset="0"/>
              </a:rPr>
              <a:t>FlowMonitor</a:t>
            </a:r>
          </a:p>
        </p:txBody>
      </p:sp>
      <p:sp>
        <p:nvSpPr>
          <p:cNvPr id="13" name="TextBox 12">
            <a:extLst>
              <a:ext uri="{FF2B5EF4-FFF2-40B4-BE49-F238E27FC236}">
                <a16:creationId xmlns:a16="http://schemas.microsoft.com/office/drawing/2014/main" id="{A66526D3-3C72-AF34-2D90-72A0DAA4FC8E}"/>
              </a:ext>
            </a:extLst>
          </p:cNvPr>
          <p:cNvSpPr txBox="1"/>
          <p:nvPr/>
        </p:nvSpPr>
        <p:spPr>
          <a:xfrm>
            <a:off x="10414000" y="3505200"/>
            <a:ext cx="1016000" cy="369332"/>
          </a:xfrm>
          <a:prstGeom prst="rect">
            <a:avLst/>
          </a:prstGeom>
          <a:noFill/>
        </p:spPr>
        <p:txBody>
          <a:bodyPr vert="horz" wrap="square" lIns="0" tIns="0" rIns="0" bIns="0" rtlCol="0">
            <a:noAutofit/>
          </a:bodyPr>
          <a:lstStyle/>
          <a:p>
            <a:pPr algn="r"/>
            <a:r>
              <a:rPr lang="en-US" sz="1600" b="1">
                <a:solidFill>
                  <a:srgbClr val="13293D"/>
                </a:solidFill>
                <a:latin typeface="Calibri" panose="020F0502020204030204" pitchFamily="34" charset="0"/>
              </a:rPr>
              <a:t>29 715</a:t>
            </a:r>
          </a:p>
        </p:txBody>
      </p:sp>
      <p:sp>
        <p:nvSpPr>
          <p:cNvPr id="14" name="TextBox 13">
            <a:extLst>
              <a:ext uri="{FF2B5EF4-FFF2-40B4-BE49-F238E27FC236}">
                <a16:creationId xmlns:a16="http://schemas.microsoft.com/office/drawing/2014/main" id="{AC9362F5-D062-74F2-FA8A-1E2A1B55F01F}"/>
              </a:ext>
            </a:extLst>
          </p:cNvPr>
          <p:cNvSpPr txBox="1"/>
          <p:nvPr/>
        </p:nvSpPr>
        <p:spPr>
          <a:xfrm>
            <a:off x="8636000" y="4013200"/>
            <a:ext cx="1778000" cy="369332"/>
          </a:xfrm>
          <a:prstGeom prst="rect">
            <a:avLst/>
          </a:prstGeom>
          <a:noFill/>
        </p:spPr>
        <p:txBody>
          <a:bodyPr vert="horz" wrap="square" lIns="0" tIns="0" rIns="0" bIns="0" rtlCol="0">
            <a:noAutofit/>
          </a:bodyPr>
          <a:lstStyle/>
          <a:p>
            <a:r>
              <a:rPr lang="en-US" sz="1600">
                <a:solidFill>
                  <a:srgbClr val="13293D"/>
                </a:solidFill>
                <a:latin typeface="Calibri" panose="020F0502020204030204" pitchFamily="34" charset="0"/>
              </a:rPr>
              <a:t>my send log</a:t>
            </a:r>
          </a:p>
        </p:txBody>
      </p:sp>
      <p:sp>
        <p:nvSpPr>
          <p:cNvPr id="15" name="TextBox 14">
            <a:extLst>
              <a:ext uri="{FF2B5EF4-FFF2-40B4-BE49-F238E27FC236}">
                <a16:creationId xmlns:a16="http://schemas.microsoft.com/office/drawing/2014/main" id="{85A52265-C018-78A3-7F0D-55E7ECC752D7}"/>
              </a:ext>
            </a:extLst>
          </p:cNvPr>
          <p:cNvSpPr txBox="1"/>
          <p:nvPr/>
        </p:nvSpPr>
        <p:spPr>
          <a:xfrm>
            <a:off x="10414000" y="4013200"/>
            <a:ext cx="1016000" cy="369332"/>
          </a:xfrm>
          <a:prstGeom prst="rect">
            <a:avLst/>
          </a:prstGeom>
          <a:noFill/>
        </p:spPr>
        <p:txBody>
          <a:bodyPr vert="horz" wrap="square" lIns="0" tIns="0" rIns="0" bIns="0" rtlCol="0">
            <a:noAutofit/>
          </a:bodyPr>
          <a:lstStyle/>
          <a:p>
            <a:pPr algn="r"/>
            <a:r>
              <a:rPr lang="en-US" sz="1600" b="1">
                <a:solidFill>
                  <a:srgbClr val="13293D"/>
                </a:solidFill>
                <a:latin typeface="Calibri" panose="020F0502020204030204" pitchFamily="34" charset="0"/>
              </a:rPr>
              <a:t>29 715</a:t>
            </a:r>
          </a:p>
        </p:txBody>
      </p:sp>
      <p:sp>
        <p:nvSpPr>
          <p:cNvPr id="16" name="TextBox 15">
            <a:extLst>
              <a:ext uri="{FF2B5EF4-FFF2-40B4-BE49-F238E27FC236}">
                <a16:creationId xmlns:a16="http://schemas.microsoft.com/office/drawing/2014/main" id="{31BB2D1D-CCC1-B4F0-11D5-D9DAB8F31838}"/>
              </a:ext>
            </a:extLst>
          </p:cNvPr>
          <p:cNvSpPr txBox="1"/>
          <p:nvPr/>
        </p:nvSpPr>
        <p:spPr>
          <a:xfrm>
            <a:off x="8636000" y="4724400"/>
            <a:ext cx="2794000" cy="369332"/>
          </a:xfrm>
          <a:prstGeom prst="rect">
            <a:avLst/>
          </a:prstGeom>
          <a:noFill/>
        </p:spPr>
        <p:txBody>
          <a:bodyPr vert="horz" wrap="square" lIns="0" tIns="0" rIns="0" bIns="0" rtlCol="0">
            <a:noAutofit/>
          </a:bodyPr>
          <a:lstStyle/>
          <a:p>
            <a:r>
              <a:rPr lang="en-US" sz="1400">
                <a:solidFill>
                  <a:srgbClr val="52514E"/>
                </a:solidFill>
                <a:latin typeface="Calibri" panose="020F0502020204030204" pitchFamily="34" charset="0"/>
              </a:rPr>
              <a:t>330 frames per UE, 43 to 53 packets each, 15.5 to 17.4 ms apart</a:t>
            </a:r>
          </a:p>
        </p:txBody>
      </p:sp>
      <p:sp>
        <p:nvSpPr>
          <p:cNvPr id="17" name="TextBox 16">
            <a:extLst>
              <a:ext uri="{FF2B5EF4-FFF2-40B4-BE49-F238E27FC236}">
                <a16:creationId xmlns:a16="http://schemas.microsoft.com/office/drawing/2014/main" id="{BE8EC781-99F4-3F88-7D6A-466860E26D38}"/>
              </a:ext>
            </a:extLst>
          </p:cNvPr>
          <p:cNvSpPr txBox="1"/>
          <p:nvPr/>
        </p:nvSpPr>
        <p:spPr>
          <a:xfrm>
            <a:off x="508000" y="6451600"/>
            <a:ext cx="6350000" cy="369332"/>
          </a:xfrm>
          <a:prstGeom prst="rect">
            <a:avLst/>
          </a:prstGeom>
          <a:noFill/>
        </p:spPr>
        <p:txBody>
          <a:bodyPr vert="horz" wrap="square" lIns="0" tIns="0" rIns="0" bIns="0" rtlCol="0">
            <a:noAutofit/>
          </a:bodyPr>
          <a:lstStyle/>
          <a:p>
            <a:r>
              <a:rPr lang="en-US" sz="1000">
                <a:solidFill>
                  <a:srgbClr val="52514E"/>
                </a:solidFill>
                <a:latin typeface="Calibri" panose="020F0502020204030204" pitchFamily="34" charset="0"/>
              </a:rPr>
              <a:t>Petrajoy Davidson  |  A2: ns-3 Setup &amp; Traffic Model</a:t>
            </a:r>
          </a:p>
        </p:txBody>
      </p:sp>
      <p:sp>
        <p:nvSpPr>
          <p:cNvPr id="18" name="TextBox 17">
            <a:extLst>
              <a:ext uri="{FF2B5EF4-FFF2-40B4-BE49-F238E27FC236}">
                <a16:creationId xmlns:a16="http://schemas.microsoft.com/office/drawing/2014/main" id="{C6D88EEF-8B22-8B8A-0841-5936D476070A}"/>
              </a:ext>
            </a:extLst>
          </p:cNvPr>
          <p:cNvSpPr txBox="1"/>
          <p:nvPr/>
        </p:nvSpPr>
        <p:spPr>
          <a:xfrm>
            <a:off x="10414000" y="6451600"/>
            <a:ext cx="1270000" cy="369332"/>
          </a:xfrm>
          <a:prstGeom prst="rect">
            <a:avLst/>
          </a:prstGeom>
          <a:noFill/>
        </p:spPr>
        <p:txBody>
          <a:bodyPr vert="horz" wrap="square" lIns="0" tIns="0" rIns="0" bIns="0" rtlCol="0">
            <a:noAutofit/>
          </a:bodyPr>
          <a:lstStyle/>
          <a:p>
            <a:pPr algn="r"/>
            <a:r>
              <a:rPr lang="en-US" sz="1000">
                <a:solidFill>
                  <a:srgbClr val="52514E"/>
                </a:solidFill>
                <a:latin typeface="Calibri" panose="020F0502020204030204" pitchFamily="34" charset="0"/>
              </a:rPr>
              <a:t>8 / 10</a:t>
            </a:r>
          </a:p>
        </p:txBody>
      </p:sp>
    </p:spTree>
    <p:extLst>
      <p:ext uri="{BB962C8B-B14F-4D97-AF65-F5344CB8AC3E}">
        <p14:creationId xmlns:p14="http://schemas.microsoft.com/office/powerpoint/2010/main" val="1529432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13FDCBD-553F-34D9-DC86-EEDBE78D9601}"/>
              </a:ext>
            </a:extLst>
          </p:cNvPr>
          <p:cNvSpPr txBox="1"/>
          <p:nvPr/>
        </p:nvSpPr>
        <p:spPr>
          <a:xfrm>
            <a:off x="508000" y="330200"/>
            <a:ext cx="11176000" cy="369332"/>
          </a:xfrm>
          <a:prstGeom prst="rect">
            <a:avLst/>
          </a:prstGeom>
          <a:noFill/>
        </p:spPr>
        <p:txBody>
          <a:bodyPr vert="horz" wrap="square" lIns="0" tIns="0" rIns="0" bIns="0" rtlCol="0">
            <a:noAutofit/>
          </a:bodyPr>
          <a:lstStyle/>
          <a:p>
            <a:r>
              <a:rPr lang="en-US" sz="3000" b="1">
                <a:solidFill>
                  <a:srgbClr val="13293D"/>
                </a:solidFill>
                <a:latin typeface="Cambria" panose="02040503050406030204" pitchFamily="18" charset="0"/>
              </a:rPr>
              <a:t>Four intents accepted, one breaks slice B</a:t>
            </a:r>
          </a:p>
        </p:txBody>
      </p:sp>
      <p:graphicFrame>
        <p:nvGraphicFramePr>
          <p:cNvPr id="3" name="Table 2">
            <a:extLst>
              <a:ext uri="{FF2B5EF4-FFF2-40B4-BE49-F238E27FC236}">
                <a16:creationId xmlns:a16="http://schemas.microsoft.com/office/drawing/2014/main" id="{31DAB5DA-7A14-31D1-C2A4-217E3E12F64A}"/>
              </a:ext>
            </a:extLst>
          </p:cNvPr>
          <p:cNvGraphicFramePr>
            <a:graphicFrameLocks noGrp="1"/>
          </p:cNvGraphicFramePr>
          <p:nvPr>
            <p:extLst>
              <p:ext uri="{D42A27DB-BD31-4B8C-83A1-F6EECF244321}">
                <p14:modId xmlns:p14="http://schemas.microsoft.com/office/powerpoint/2010/main" val="3435074920"/>
              </p:ext>
            </p:extLst>
          </p:nvPr>
        </p:nvGraphicFramePr>
        <p:xfrm>
          <a:off x="508000" y="1219200"/>
          <a:ext cx="7620000" cy="3175000"/>
        </p:xfrm>
        <a:graphic>
          <a:graphicData uri="http://schemas.openxmlformats.org/drawingml/2006/table">
            <a:tbl>
              <a:tblPr firstRow="1" bandRow="1">
                <a:tableStyleId>{2D5ABB26-0587-4C30-8999-92F81FD0307C}</a:tableStyleId>
              </a:tblPr>
              <a:tblGrid>
                <a:gridCol w="1397000">
                  <a:extLst>
                    <a:ext uri="{9D8B030D-6E8A-4147-A177-3AD203B41FA5}">
                      <a16:colId xmlns:a16="http://schemas.microsoft.com/office/drawing/2014/main" val="3599934254"/>
                    </a:ext>
                  </a:extLst>
                </a:gridCol>
                <a:gridCol w="1270000">
                  <a:extLst>
                    <a:ext uri="{9D8B030D-6E8A-4147-A177-3AD203B41FA5}">
                      <a16:colId xmlns:a16="http://schemas.microsoft.com/office/drawing/2014/main" val="2712769725"/>
                    </a:ext>
                  </a:extLst>
                </a:gridCol>
                <a:gridCol w="1270000">
                  <a:extLst>
                    <a:ext uri="{9D8B030D-6E8A-4147-A177-3AD203B41FA5}">
                      <a16:colId xmlns:a16="http://schemas.microsoft.com/office/drawing/2014/main" val="1498047502"/>
                    </a:ext>
                  </a:extLst>
                </a:gridCol>
                <a:gridCol w="1270000">
                  <a:extLst>
                    <a:ext uri="{9D8B030D-6E8A-4147-A177-3AD203B41FA5}">
                      <a16:colId xmlns:a16="http://schemas.microsoft.com/office/drawing/2014/main" val="2823708650"/>
                    </a:ext>
                  </a:extLst>
                </a:gridCol>
                <a:gridCol w="1079500">
                  <a:extLst>
                    <a:ext uri="{9D8B030D-6E8A-4147-A177-3AD203B41FA5}">
                      <a16:colId xmlns:a16="http://schemas.microsoft.com/office/drawing/2014/main" val="399253677"/>
                    </a:ext>
                  </a:extLst>
                </a:gridCol>
                <a:gridCol w="1333500">
                  <a:extLst>
                    <a:ext uri="{9D8B030D-6E8A-4147-A177-3AD203B41FA5}">
                      <a16:colId xmlns:a16="http://schemas.microsoft.com/office/drawing/2014/main" val="1611840235"/>
                    </a:ext>
                  </a:extLst>
                </a:gridCol>
              </a:tblGrid>
              <a:tr h="635000">
                <a:tc>
                  <a:txBody>
                    <a:bodyPr/>
                    <a:lstStyle/>
                    <a:p>
                      <a:r>
                        <a:rPr lang="en-US" sz="1500" b="1">
                          <a:solidFill>
                            <a:srgbClr val="FFFFFF"/>
                          </a:solidFill>
                          <a:latin typeface="Calibri" panose="020F0502020204030204" pitchFamily="34" charset="0"/>
                        </a:rPr>
                        <a:t>Intent</a:t>
                      </a:r>
                    </a:p>
                  </a:txBody>
                  <a:tcPr marL="76200" marR="76200" marT="50800" marB="50800">
                    <a:solidFill>
                      <a:srgbClr val="13293D"/>
                    </a:solidFill>
                  </a:tcPr>
                </a:tc>
                <a:tc>
                  <a:txBody>
                    <a:bodyPr/>
                    <a:lstStyle/>
                    <a:p>
                      <a:r>
                        <a:rPr lang="en-US" sz="1500" b="1">
                          <a:solidFill>
                            <a:srgbClr val="FFFFFF"/>
                          </a:solidFill>
                          <a:latin typeface="Calibri" panose="020F0502020204030204" pitchFamily="34" charset="0"/>
                        </a:rPr>
                        <a:t>Split A / B</a:t>
                      </a:r>
                    </a:p>
                  </a:txBody>
                  <a:tcPr marL="76200" marR="76200" marT="50800" marB="50800">
                    <a:solidFill>
                      <a:srgbClr val="13293D"/>
                    </a:solidFill>
                  </a:tcPr>
                </a:tc>
                <a:tc>
                  <a:txBody>
                    <a:bodyPr/>
                    <a:lstStyle/>
                    <a:p>
                      <a:r>
                        <a:rPr lang="en-US" sz="1500" b="1">
                          <a:solidFill>
                            <a:srgbClr val="FFFFFF"/>
                          </a:solidFill>
                          <a:latin typeface="Calibri" panose="020F0502020204030204" pitchFamily="34" charset="0"/>
                        </a:rPr>
                        <a:t>Slice B load</a:t>
                      </a:r>
                    </a:p>
                  </a:txBody>
                  <a:tcPr marL="76200" marR="76200" marT="50800" marB="50800">
                    <a:solidFill>
                      <a:srgbClr val="13293D"/>
                    </a:solidFill>
                  </a:tcPr>
                </a:tc>
                <a:tc>
                  <a:txBody>
                    <a:bodyPr/>
                    <a:lstStyle/>
                    <a:p>
                      <a:r>
                        <a:rPr lang="en-US" sz="1500" b="1">
                          <a:solidFill>
                            <a:srgbClr val="FFFFFF"/>
                          </a:solidFill>
                          <a:latin typeface="Calibri" panose="020F0502020204030204" pitchFamily="34" charset="0"/>
                        </a:rPr>
                        <a:t>B p95 delay</a:t>
                      </a:r>
                    </a:p>
                  </a:txBody>
                  <a:tcPr marL="76200" marR="76200" marT="50800" marB="50800">
                    <a:solidFill>
                      <a:srgbClr val="13293D"/>
                    </a:solidFill>
                  </a:tcPr>
                </a:tc>
                <a:tc>
                  <a:txBody>
                    <a:bodyPr/>
                    <a:lstStyle/>
                    <a:p>
                      <a:r>
                        <a:rPr lang="en-US" sz="1500" b="1">
                          <a:solidFill>
                            <a:srgbClr val="FFFFFF"/>
                          </a:solidFill>
                          <a:latin typeface="Calibri" panose="020F0502020204030204" pitchFamily="34" charset="0"/>
                        </a:rPr>
                        <a:t>B loss</a:t>
                      </a:r>
                    </a:p>
                  </a:txBody>
                  <a:tcPr marL="76200" marR="76200" marT="50800" marB="50800">
                    <a:solidFill>
                      <a:srgbClr val="13293D"/>
                    </a:solidFill>
                  </a:tcPr>
                </a:tc>
                <a:tc>
                  <a:txBody>
                    <a:bodyPr/>
                    <a:lstStyle/>
                    <a:p>
                      <a:r>
                        <a:rPr lang="en-US" sz="1500" b="1">
                          <a:solidFill>
                            <a:srgbClr val="FFFFFF"/>
                          </a:solidFill>
                          <a:latin typeface="Calibri" panose="020F0502020204030204" pitchFamily="34" charset="0"/>
                        </a:rPr>
                        <a:t>Slice B SLA</a:t>
                      </a:r>
                    </a:p>
                  </a:txBody>
                  <a:tcPr marL="76200" marR="76200" marT="50800" marB="50800">
                    <a:solidFill>
                      <a:srgbClr val="13293D"/>
                    </a:solidFill>
                  </a:tcPr>
                </a:tc>
                <a:extLst>
                  <a:ext uri="{0D108BD9-81ED-4DB2-BD59-A6C34878D82A}">
                    <a16:rowId xmlns:a16="http://schemas.microsoft.com/office/drawing/2014/main" val="2495514571"/>
                  </a:ext>
                </a:extLst>
              </a:tr>
              <a:tr h="635000">
                <a:tc>
                  <a:txBody>
                    <a:bodyPr/>
                    <a:lstStyle/>
                    <a:p>
                      <a:r>
                        <a:rPr lang="en-US" sz="1500">
                          <a:solidFill>
                            <a:srgbClr val="13293D"/>
                          </a:solidFill>
                          <a:latin typeface="Calibri" panose="020F0502020204030204" pitchFamily="34" charset="0"/>
                        </a:rPr>
                        <a:t>a70</a:t>
                      </a:r>
                    </a:p>
                  </a:txBody>
                  <a:tcPr marL="76200" marR="76200" marT="50800" marB="50800">
                    <a:solidFill>
                      <a:srgbClr val="FFFFFF"/>
                    </a:solidFill>
                  </a:tcPr>
                </a:tc>
                <a:tc>
                  <a:txBody>
                    <a:bodyPr/>
                    <a:lstStyle/>
                    <a:p>
                      <a:r>
                        <a:rPr lang="en-US" sz="1500">
                          <a:solidFill>
                            <a:srgbClr val="13293D"/>
                          </a:solidFill>
                          <a:latin typeface="Calibri" panose="020F0502020204030204" pitchFamily="34" charset="0"/>
                        </a:rPr>
                        <a:t>70 / 30 MHz</a:t>
                      </a:r>
                    </a:p>
                  </a:txBody>
                  <a:tcPr marL="76200" marR="76200" marT="50800" marB="50800">
                    <a:solidFill>
                      <a:srgbClr val="FFFFFF"/>
                    </a:solidFill>
                  </a:tcPr>
                </a:tc>
                <a:tc>
                  <a:txBody>
                    <a:bodyPr/>
                    <a:lstStyle/>
                    <a:p>
                      <a:r>
                        <a:rPr lang="en-US" sz="1500">
                          <a:solidFill>
                            <a:srgbClr val="13293D"/>
                          </a:solidFill>
                          <a:latin typeface="Calibri" panose="020F0502020204030204" pitchFamily="34" charset="0"/>
                        </a:rPr>
                        <a:t>0.4 Mbps</a:t>
                      </a:r>
                    </a:p>
                  </a:txBody>
                  <a:tcPr marL="76200" marR="76200" marT="50800" marB="50800">
                    <a:solidFill>
                      <a:srgbClr val="FFFFFF"/>
                    </a:solidFill>
                  </a:tcPr>
                </a:tc>
                <a:tc>
                  <a:txBody>
                    <a:bodyPr/>
                    <a:lstStyle/>
                    <a:p>
                      <a:r>
                        <a:rPr lang="en-US" sz="1500">
                          <a:solidFill>
                            <a:srgbClr val="13293D"/>
                          </a:solidFill>
                          <a:latin typeface="Calibri" panose="020F0502020204030204" pitchFamily="34" charset="0"/>
                        </a:rPr>
                        <a:t>1.0 ms</a:t>
                      </a:r>
                    </a:p>
                  </a:txBody>
                  <a:tcPr marL="76200" marR="76200" marT="50800" marB="50800">
                    <a:solidFill>
                      <a:srgbClr val="FFFFFF"/>
                    </a:solidFill>
                  </a:tcPr>
                </a:tc>
                <a:tc>
                  <a:txBody>
                    <a:bodyPr/>
                    <a:lstStyle/>
                    <a:p>
                      <a:r>
                        <a:rPr lang="en-US" sz="1500">
                          <a:solidFill>
                            <a:srgbClr val="13293D"/>
                          </a:solidFill>
                          <a:latin typeface="Calibri" panose="020F0502020204030204" pitchFamily="34" charset="0"/>
                        </a:rPr>
                        <a:t>0.00 %</a:t>
                      </a:r>
                    </a:p>
                  </a:txBody>
                  <a:tcPr marL="76200" marR="76200" marT="50800" marB="50800">
                    <a:solidFill>
                      <a:srgbClr val="FFFFFF"/>
                    </a:solidFill>
                  </a:tcPr>
                </a:tc>
                <a:tc>
                  <a:txBody>
                    <a:bodyPr/>
                    <a:lstStyle/>
                    <a:p>
                      <a:r>
                        <a:rPr lang="en-US" sz="1500" b="1">
                          <a:solidFill>
                            <a:srgbClr val="1E7B34"/>
                          </a:solidFill>
                          <a:latin typeface="Calibri" panose="020F0502020204030204" pitchFamily="34" charset="0"/>
                        </a:rPr>
                        <a:t>met</a:t>
                      </a:r>
                    </a:p>
                  </a:txBody>
                  <a:tcPr marL="76200" marR="76200" marT="50800" marB="50800">
                    <a:solidFill>
                      <a:srgbClr val="FFFFFF"/>
                    </a:solidFill>
                  </a:tcPr>
                </a:tc>
                <a:extLst>
                  <a:ext uri="{0D108BD9-81ED-4DB2-BD59-A6C34878D82A}">
                    <a16:rowId xmlns:a16="http://schemas.microsoft.com/office/drawing/2014/main" val="807137687"/>
                  </a:ext>
                </a:extLst>
              </a:tr>
              <a:tr h="635000">
                <a:tc>
                  <a:txBody>
                    <a:bodyPr/>
                    <a:lstStyle/>
                    <a:p>
                      <a:r>
                        <a:rPr lang="en-US" sz="1500">
                          <a:solidFill>
                            <a:srgbClr val="13293D"/>
                          </a:solidFill>
                          <a:latin typeface="Calibri" panose="020F0502020204030204" pitchFamily="34" charset="0"/>
                        </a:rPr>
                        <a:t>a90</a:t>
                      </a:r>
                    </a:p>
                  </a:txBody>
                  <a:tcPr marL="76200" marR="76200" marT="50800" marB="50800">
                    <a:solidFill>
                      <a:srgbClr val="EEF2F6"/>
                    </a:solidFill>
                  </a:tcPr>
                </a:tc>
                <a:tc>
                  <a:txBody>
                    <a:bodyPr/>
                    <a:lstStyle/>
                    <a:p>
                      <a:r>
                        <a:rPr lang="en-US" sz="1500">
                          <a:solidFill>
                            <a:srgbClr val="13293D"/>
                          </a:solidFill>
                          <a:latin typeface="Calibri" panose="020F0502020204030204" pitchFamily="34" charset="0"/>
                        </a:rPr>
                        <a:t>90 / 10 MHz</a:t>
                      </a:r>
                    </a:p>
                  </a:txBody>
                  <a:tcPr marL="76200" marR="76200" marT="50800" marB="50800">
                    <a:solidFill>
                      <a:srgbClr val="EEF2F6"/>
                    </a:solidFill>
                  </a:tcPr>
                </a:tc>
                <a:tc>
                  <a:txBody>
                    <a:bodyPr/>
                    <a:lstStyle/>
                    <a:p>
                      <a:r>
                        <a:rPr lang="en-US" sz="1500">
                          <a:solidFill>
                            <a:srgbClr val="13293D"/>
                          </a:solidFill>
                          <a:latin typeface="Calibri" panose="020F0502020204030204" pitchFamily="34" charset="0"/>
                        </a:rPr>
                        <a:t>0.4 Mbps</a:t>
                      </a:r>
                    </a:p>
                  </a:txBody>
                  <a:tcPr marL="76200" marR="76200" marT="50800" marB="50800">
                    <a:solidFill>
                      <a:srgbClr val="EEF2F6"/>
                    </a:solidFill>
                  </a:tcPr>
                </a:tc>
                <a:tc>
                  <a:txBody>
                    <a:bodyPr/>
                    <a:lstStyle/>
                    <a:p>
                      <a:r>
                        <a:rPr lang="en-US" sz="1500">
                          <a:solidFill>
                            <a:srgbClr val="13293D"/>
                          </a:solidFill>
                          <a:latin typeface="Calibri" panose="020F0502020204030204" pitchFamily="34" charset="0"/>
                        </a:rPr>
                        <a:t>1.0 ms</a:t>
                      </a:r>
                    </a:p>
                  </a:txBody>
                  <a:tcPr marL="76200" marR="76200" marT="50800" marB="50800">
                    <a:solidFill>
                      <a:srgbClr val="EEF2F6"/>
                    </a:solidFill>
                  </a:tcPr>
                </a:tc>
                <a:tc>
                  <a:txBody>
                    <a:bodyPr/>
                    <a:lstStyle/>
                    <a:p>
                      <a:r>
                        <a:rPr lang="en-US" sz="1500">
                          <a:solidFill>
                            <a:srgbClr val="13293D"/>
                          </a:solidFill>
                          <a:latin typeface="Calibri" panose="020F0502020204030204" pitchFamily="34" charset="0"/>
                        </a:rPr>
                        <a:t>0.00 %</a:t>
                      </a:r>
                    </a:p>
                  </a:txBody>
                  <a:tcPr marL="76200" marR="76200" marT="50800" marB="50800">
                    <a:solidFill>
                      <a:srgbClr val="EEF2F6"/>
                    </a:solidFill>
                  </a:tcPr>
                </a:tc>
                <a:tc>
                  <a:txBody>
                    <a:bodyPr/>
                    <a:lstStyle/>
                    <a:p>
                      <a:r>
                        <a:rPr lang="en-US" sz="1500" b="1">
                          <a:solidFill>
                            <a:srgbClr val="1E7B34"/>
                          </a:solidFill>
                          <a:latin typeface="Calibri" panose="020F0502020204030204" pitchFamily="34" charset="0"/>
                        </a:rPr>
                        <a:t>met</a:t>
                      </a:r>
                    </a:p>
                  </a:txBody>
                  <a:tcPr marL="76200" marR="76200" marT="50800" marB="50800">
                    <a:solidFill>
                      <a:srgbClr val="EEF2F6"/>
                    </a:solidFill>
                  </a:tcPr>
                </a:tc>
                <a:extLst>
                  <a:ext uri="{0D108BD9-81ED-4DB2-BD59-A6C34878D82A}">
                    <a16:rowId xmlns:a16="http://schemas.microsoft.com/office/drawing/2014/main" val="3222729958"/>
                  </a:ext>
                </a:extLst>
              </a:tr>
              <a:tr h="635000">
                <a:tc>
                  <a:txBody>
                    <a:bodyPr/>
                    <a:lstStyle/>
                    <a:p>
                      <a:r>
                        <a:rPr lang="en-US" sz="1500">
                          <a:solidFill>
                            <a:srgbClr val="13293D"/>
                          </a:solidFill>
                          <a:latin typeface="Calibri" panose="020F0502020204030204" pitchFamily="34" charset="0"/>
                        </a:rPr>
                        <a:t>a70-heavyB</a:t>
                      </a:r>
                    </a:p>
                  </a:txBody>
                  <a:tcPr marL="76200" marR="76200" marT="50800" marB="50800">
                    <a:solidFill>
                      <a:srgbClr val="FFFFFF"/>
                    </a:solidFill>
                  </a:tcPr>
                </a:tc>
                <a:tc>
                  <a:txBody>
                    <a:bodyPr/>
                    <a:lstStyle/>
                    <a:p>
                      <a:r>
                        <a:rPr lang="en-US" sz="1500">
                          <a:solidFill>
                            <a:srgbClr val="13293D"/>
                          </a:solidFill>
                          <a:latin typeface="Calibri" panose="020F0502020204030204" pitchFamily="34" charset="0"/>
                        </a:rPr>
                        <a:t>70 / 30 MHz</a:t>
                      </a:r>
                    </a:p>
                  </a:txBody>
                  <a:tcPr marL="76200" marR="76200" marT="50800" marB="50800">
                    <a:solidFill>
                      <a:srgbClr val="FFFFFF"/>
                    </a:solidFill>
                  </a:tcPr>
                </a:tc>
                <a:tc>
                  <a:txBody>
                    <a:bodyPr/>
                    <a:lstStyle/>
                    <a:p>
                      <a:r>
                        <a:rPr lang="en-US" sz="1500">
                          <a:solidFill>
                            <a:srgbClr val="13293D"/>
                          </a:solidFill>
                          <a:latin typeface="Calibri" panose="020F0502020204030204" pitchFamily="34" charset="0"/>
                        </a:rPr>
                        <a:t>40 Mbps</a:t>
                      </a:r>
                    </a:p>
                  </a:txBody>
                  <a:tcPr marL="76200" marR="76200" marT="50800" marB="50800">
                    <a:solidFill>
                      <a:srgbClr val="FFFFFF"/>
                    </a:solidFill>
                  </a:tcPr>
                </a:tc>
                <a:tc>
                  <a:txBody>
                    <a:bodyPr/>
                    <a:lstStyle/>
                    <a:p>
                      <a:r>
                        <a:rPr lang="en-US" sz="1500">
                          <a:solidFill>
                            <a:srgbClr val="13293D"/>
                          </a:solidFill>
                          <a:latin typeface="Calibri" panose="020F0502020204030204" pitchFamily="34" charset="0"/>
                        </a:rPr>
                        <a:t>1.1 ms</a:t>
                      </a:r>
                    </a:p>
                  </a:txBody>
                  <a:tcPr marL="76200" marR="76200" marT="50800" marB="50800">
                    <a:solidFill>
                      <a:srgbClr val="FFFFFF"/>
                    </a:solidFill>
                  </a:tcPr>
                </a:tc>
                <a:tc>
                  <a:txBody>
                    <a:bodyPr/>
                    <a:lstStyle/>
                    <a:p>
                      <a:r>
                        <a:rPr lang="en-US" sz="1500">
                          <a:solidFill>
                            <a:srgbClr val="13293D"/>
                          </a:solidFill>
                          <a:latin typeface="Calibri" panose="020F0502020204030204" pitchFamily="34" charset="0"/>
                        </a:rPr>
                        <a:t>0.01 %</a:t>
                      </a:r>
                    </a:p>
                  </a:txBody>
                  <a:tcPr marL="76200" marR="76200" marT="50800" marB="50800">
                    <a:solidFill>
                      <a:srgbClr val="FFFFFF"/>
                    </a:solidFill>
                  </a:tcPr>
                </a:tc>
                <a:tc>
                  <a:txBody>
                    <a:bodyPr/>
                    <a:lstStyle/>
                    <a:p>
                      <a:r>
                        <a:rPr lang="en-US" sz="1500" b="1">
                          <a:solidFill>
                            <a:srgbClr val="1E7B34"/>
                          </a:solidFill>
                          <a:latin typeface="Calibri" panose="020F0502020204030204" pitchFamily="34" charset="0"/>
                        </a:rPr>
                        <a:t>met</a:t>
                      </a:r>
                    </a:p>
                  </a:txBody>
                  <a:tcPr marL="76200" marR="76200" marT="50800" marB="50800">
                    <a:solidFill>
                      <a:srgbClr val="FFFFFF"/>
                    </a:solidFill>
                  </a:tcPr>
                </a:tc>
                <a:extLst>
                  <a:ext uri="{0D108BD9-81ED-4DB2-BD59-A6C34878D82A}">
                    <a16:rowId xmlns:a16="http://schemas.microsoft.com/office/drawing/2014/main" val="750416748"/>
                  </a:ext>
                </a:extLst>
              </a:tr>
              <a:tr h="635000">
                <a:tc>
                  <a:txBody>
                    <a:bodyPr/>
                    <a:lstStyle/>
                    <a:p>
                      <a:r>
                        <a:rPr lang="en-US" sz="1500" b="1">
                          <a:solidFill>
                            <a:srgbClr val="C0392B"/>
                          </a:solidFill>
                          <a:latin typeface="Calibri" panose="020F0502020204030204" pitchFamily="34" charset="0"/>
                        </a:rPr>
                        <a:t>a90-heavyB</a:t>
                      </a:r>
                    </a:p>
                  </a:txBody>
                  <a:tcPr marL="76200" marR="76200" marT="50800" marB="50800">
                    <a:solidFill>
                      <a:srgbClr val="FBE7E4"/>
                    </a:solidFill>
                  </a:tcPr>
                </a:tc>
                <a:tc>
                  <a:txBody>
                    <a:bodyPr/>
                    <a:lstStyle/>
                    <a:p>
                      <a:r>
                        <a:rPr lang="en-US" sz="1500" b="1">
                          <a:solidFill>
                            <a:srgbClr val="C0392B"/>
                          </a:solidFill>
                          <a:latin typeface="Calibri" panose="020F0502020204030204" pitchFamily="34" charset="0"/>
                        </a:rPr>
                        <a:t>90 / 10 MHz</a:t>
                      </a:r>
                    </a:p>
                  </a:txBody>
                  <a:tcPr marL="76200" marR="76200" marT="50800" marB="50800">
                    <a:solidFill>
                      <a:srgbClr val="FBE7E4"/>
                    </a:solidFill>
                  </a:tcPr>
                </a:tc>
                <a:tc>
                  <a:txBody>
                    <a:bodyPr/>
                    <a:lstStyle/>
                    <a:p>
                      <a:r>
                        <a:rPr lang="en-US" sz="1500" b="1">
                          <a:solidFill>
                            <a:srgbClr val="C0392B"/>
                          </a:solidFill>
                          <a:latin typeface="Calibri" panose="020F0502020204030204" pitchFamily="34" charset="0"/>
                        </a:rPr>
                        <a:t>40 Mbps</a:t>
                      </a:r>
                    </a:p>
                  </a:txBody>
                  <a:tcPr marL="76200" marR="76200" marT="50800" marB="50800">
                    <a:solidFill>
                      <a:srgbClr val="FBE7E4"/>
                    </a:solidFill>
                  </a:tcPr>
                </a:tc>
                <a:tc>
                  <a:txBody>
                    <a:bodyPr/>
                    <a:lstStyle/>
                    <a:p>
                      <a:r>
                        <a:rPr lang="en-US" sz="1500" b="1">
                          <a:solidFill>
                            <a:srgbClr val="C0392B"/>
                          </a:solidFill>
                          <a:latin typeface="Calibri" panose="020F0502020204030204" pitchFamily="34" charset="0"/>
                        </a:rPr>
                        <a:t>12.7 ms</a:t>
                      </a:r>
                    </a:p>
                  </a:txBody>
                  <a:tcPr marL="76200" marR="76200" marT="50800" marB="50800">
                    <a:solidFill>
                      <a:srgbClr val="FBE7E4"/>
                    </a:solidFill>
                  </a:tcPr>
                </a:tc>
                <a:tc>
                  <a:txBody>
                    <a:bodyPr/>
                    <a:lstStyle/>
                    <a:p>
                      <a:r>
                        <a:rPr lang="en-US" sz="1500" b="1">
                          <a:solidFill>
                            <a:srgbClr val="C0392B"/>
                          </a:solidFill>
                          <a:latin typeface="Calibri" panose="020F0502020204030204" pitchFamily="34" charset="0"/>
                        </a:rPr>
                        <a:t>9.99 %</a:t>
                      </a:r>
                    </a:p>
                  </a:txBody>
                  <a:tcPr marL="76200" marR="76200" marT="50800" marB="50800">
                    <a:solidFill>
                      <a:srgbClr val="FBE7E4"/>
                    </a:solidFill>
                  </a:tcPr>
                </a:tc>
                <a:tc>
                  <a:txBody>
                    <a:bodyPr/>
                    <a:lstStyle/>
                    <a:p>
                      <a:r>
                        <a:rPr lang="en-US" sz="1500" b="1">
                          <a:solidFill>
                            <a:srgbClr val="C0392B"/>
                          </a:solidFill>
                          <a:latin typeface="Calibri" panose="020F0502020204030204" pitchFamily="34" charset="0"/>
                        </a:rPr>
                        <a:t>VIOLATED</a:t>
                      </a:r>
                    </a:p>
                  </a:txBody>
                  <a:tcPr marL="76200" marR="76200" marT="50800" marB="50800">
                    <a:solidFill>
                      <a:srgbClr val="FBE7E4"/>
                    </a:solidFill>
                  </a:tcPr>
                </a:tc>
                <a:extLst>
                  <a:ext uri="{0D108BD9-81ED-4DB2-BD59-A6C34878D82A}">
                    <a16:rowId xmlns:a16="http://schemas.microsoft.com/office/drawing/2014/main" val="127387338"/>
                  </a:ext>
                </a:extLst>
              </a:tr>
            </a:tbl>
          </a:graphicData>
        </a:graphic>
      </p:graphicFrame>
      <p:sp>
        <p:nvSpPr>
          <p:cNvPr id="4" name="TextBox 3">
            <a:extLst>
              <a:ext uri="{FF2B5EF4-FFF2-40B4-BE49-F238E27FC236}">
                <a16:creationId xmlns:a16="http://schemas.microsoft.com/office/drawing/2014/main" id="{9D21BD18-2D40-E6CD-CD8B-C7949B2D47D8}"/>
              </a:ext>
            </a:extLst>
          </p:cNvPr>
          <p:cNvSpPr txBox="1"/>
          <p:nvPr/>
        </p:nvSpPr>
        <p:spPr>
          <a:xfrm>
            <a:off x="508000" y="4597400"/>
            <a:ext cx="7620000" cy="369332"/>
          </a:xfrm>
          <a:prstGeom prst="rect">
            <a:avLst/>
          </a:prstGeom>
          <a:noFill/>
        </p:spPr>
        <p:txBody>
          <a:bodyPr vert="horz" wrap="square" lIns="0" tIns="0" rIns="0" bIns="0" rtlCol="0">
            <a:noAutofit/>
          </a:bodyPr>
          <a:lstStyle/>
          <a:p>
            <a:r>
              <a:rPr lang="en-US" sz="1500">
                <a:solidFill>
                  <a:srgbClr val="52514E"/>
                </a:solidFill>
                <a:latin typeface="Calibri" panose="020F0502020204030204" pitchFamily="34" charset="0"/>
              </a:rPr>
              <a:t>All four passed the capacity-only check. Slice A is unchanged in all four (2 x 30 Mbps, 0 % loss).</a:t>
            </a:r>
          </a:p>
        </p:txBody>
      </p:sp>
      <p:sp>
        <p:nvSpPr>
          <p:cNvPr id="5" name="Rectangle: Rounded Corners 4">
            <a:extLst>
              <a:ext uri="{FF2B5EF4-FFF2-40B4-BE49-F238E27FC236}">
                <a16:creationId xmlns:a16="http://schemas.microsoft.com/office/drawing/2014/main" id="{D84D95AD-E375-A9E9-6E81-DBD6D7FBACC1}"/>
              </a:ext>
            </a:extLst>
          </p:cNvPr>
          <p:cNvSpPr/>
          <p:nvPr/>
        </p:nvSpPr>
        <p:spPr>
          <a:xfrm>
            <a:off x="8509000" y="1219200"/>
            <a:ext cx="3175000" cy="4775200"/>
          </a:xfrm>
          <a:prstGeom prst="roundRect">
            <a:avLst>
              <a:gd name="adj" fmla="val 8000"/>
            </a:avLst>
          </a:prstGeom>
          <a:solidFill>
            <a:srgbClr val="FBE7E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CA0722-5055-F171-3A64-383B8626C167}"/>
              </a:ext>
            </a:extLst>
          </p:cNvPr>
          <p:cNvSpPr txBox="1"/>
          <p:nvPr/>
        </p:nvSpPr>
        <p:spPr>
          <a:xfrm>
            <a:off x="8763000" y="1447800"/>
            <a:ext cx="2667000" cy="369332"/>
          </a:xfrm>
          <a:prstGeom prst="rect">
            <a:avLst/>
          </a:prstGeom>
          <a:noFill/>
        </p:spPr>
        <p:txBody>
          <a:bodyPr vert="horz" wrap="square" lIns="0" tIns="0" rIns="0" bIns="0" rtlCol="0">
            <a:noAutofit/>
          </a:bodyPr>
          <a:lstStyle/>
          <a:p>
            <a:r>
              <a:rPr lang="en-US" sz="1300" b="1">
                <a:solidFill>
                  <a:srgbClr val="C0392B"/>
                </a:solidFill>
                <a:latin typeface="Calibri" panose="020F0502020204030204" pitchFamily="34" charset="0"/>
              </a:rPr>
              <a:t>SLICE B, a90-heavyB</a:t>
            </a:r>
          </a:p>
        </p:txBody>
      </p:sp>
      <p:sp>
        <p:nvSpPr>
          <p:cNvPr id="7" name="TextBox 6">
            <a:extLst>
              <a:ext uri="{FF2B5EF4-FFF2-40B4-BE49-F238E27FC236}">
                <a16:creationId xmlns:a16="http://schemas.microsoft.com/office/drawing/2014/main" id="{30336BBD-1E4B-6F7B-798D-EE291F5B52F8}"/>
              </a:ext>
            </a:extLst>
          </p:cNvPr>
          <p:cNvSpPr txBox="1"/>
          <p:nvPr/>
        </p:nvSpPr>
        <p:spPr>
          <a:xfrm>
            <a:off x="8763000" y="1778000"/>
            <a:ext cx="2667000" cy="369332"/>
          </a:xfrm>
          <a:prstGeom prst="rect">
            <a:avLst/>
          </a:prstGeom>
          <a:noFill/>
        </p:spPr>
        <p:txBody>
          <a:bodyPr vert="horz" wrap="square" lIns="0" tIns="0" rIns="0" bIns="0" rtlCol="0">
            <a:noAutofit/>
          </a:bodyPr>
          <a:lstStyle/>
          <a:p>
            <a:r>
              <a:rPr lang="en-US" sz="4800" b="1">
                <a:solidFill>
                  <a:srgbClr val="C0392B"/>
                </a:solidFill>
                <a:latin typeface="Cambria" panose="02040503050406030204" pitchFamily="18" charset="0"/>
              </a:rPr>
              <a:t>12.7 ms</a:t>
            </a:r>
          </a:p>
        </p:txBody>
      </p:sp>
      <p:sp>
        <p:nvSpPr>
          <p:cNvPr id="8" name="TextBox 7">
            <a:extLst>
              <a:ext uri="{FF2B5EF4-FFF2-40B4-BE49-F238E27FC236}">
                <a16:creationId xmlns:a16="http://schemas.microsoft.com/office/drawing/2014/main" id="{C25D3545-9518-7791-9617-B8B3F6FD05E8}"/>
              </a:ext>
            </a:extLst>
          </p:cNvPr>
          <p:cNvSpPr txBox="1"/>
          <p:nvPr/>
        </p:nvSpPr>
        <p:spPr>
          <a:xfrm>
            <a:off x="8763000" y="2590800"/>
            <a:ext cx="2667000" cy="369332"/>
          </a:xfrm>
          <a:prstGeom prst="rect">
            <a:avLst/>
          </a:prstGeom>
          <a:noFill/>
        </p:spPr>
        <p:txBody>
          <a:bodyPr vert="horz" wrap="square" lIns="0" tIns="0" rIns="0" bIns="0" rtlCol="0">
            <a:noAutofit/>
          </a:bodyPr>
          <a:lstStyle/>
          <a:p>
            <a:r>
              <a:rPr lang="en-US" sz="1500">
                <a:solidFill>
                  <a:srgbClr val="13293D"/>
                </a:solidFill>
                <a:latin typeface="Calibri" panose="020F0502020204030204" pitchFamily="34" charset="0"/>
              </a:rPr>
              <a:t>p95 delay vs 10 ms budget; 10 % of packets not delivered</a:t>
            </a:r>
          </a:p>
        </p:txBody>
      </p:sp>
      <p:sp>
        <p:nvSpPr>
          <p:cNvPr id="9" name="TextBox 8">
            <a:extLst>
              <a:ext uri="{FF2B5EF4-FFF2-40B4-BE49-F238E27FC236}">
                <a16:creationId xmlns:a16="http://schemas.microsoft.com/office/drawing/2014/main" id="{522EFFE7-FA8F-3968-7411-E164B7DE1425}"/>
              </a:ext>
            </a:extLst>
          </p:cNvPr>
          <p:cNvSpPr txBox="1"/>
          <p:nvPr/>
        </p:nvSpPr>
        <p:spPr>
          <a:xfrm>
            <a:off x="8763000" y="3683000"/>
            <a:ext cx="2667000" cy="369332"/>
          </a:xfrm>
          <a:prstGeom prst="rect">
            <a:avLst/>
          </a:prstGeom>
          <a:noFill/>
        </p:spPr>
        <p:txBody>
          <a:bodyPr vert="horz" wrap="square" lIns="0" tIns="0" rIns="0" bIns="0" rtlCol="0">
            <a:noAutofit/>
          </a:bodyPr>
          <a:lstStyle/>
          <a:p>
            <a:r>
              <a:rPr lang="en-US" sz="1600" b="1">
                <a:solidFill>
                  <a:srgbClr val="13293D"/>
                </a:solidFill>
                <a:latin typeface="Calibri" panose="020F0502020204030204" pitchFamily="34" charset="0"/>
              </a:rPr>
              <a:t>Same 90 / 10 split: safe when slice B is light, harmful when it is heavy. The shares alone cannot tell.</a:t>
            </a:r>
          </a:p>
        </p:txBody>
      </p:sp>
      <p:sp>
        <p:nvSpPr>
          <p:cNvPr id="10" name="TextBox 9">
            <a:extLst>
              <a:ext uri="{FF2B5EF4-FFF2-40B4-BE49-F238E27FC236}">
                <a16:creationId xmlns:a16="http://schemas.microsoft.com/office/drawing/2014/main" id="{F12A4A31-D625-B613-3BB1-BE89847A9D4C}"/>
              </a:ext>
            </a:extLst>
          </p:cNvPr>
          <p:cNvSpPr txBox="1"/>
          <p:nvPr/>
        </p:nvSpPr>
        <p:spPr>
          <a:xfrm>
            <a:off x="508000" y="6451600"/>
            <a:ext cx="6350000" cy="369332"/>
          </a:xfrm>
          <a:prstGeom prst="rect">
            <a:avLst/>
          </a:prstGeom>
          <a:noFill/>
        </p:spPr>
        <p:txBody>
          <a:bodyPr vert="horz" wrap="square" lIns="0" tIns="0" rIns="0" bIns="0" rtlCol="0">
            <a:noAutofit/>
          </a:bodyPr>
          <a:lstStyle/>
          <a:p>
            <a:r>
              <a:rPr lang="en-US" sz="1000">
                <a:solidFill>
                  <a:srgbClr val="52514E"/>
                </a:solidFill>
                <a:latin typeface="Calibri" panose="020F0502020204030204" pitchFamily="34" charset="0"/>
              </a:rPr>
              <a:t>Petrajoy Davidson  |  A2: ns-3 Setup &amp; Traffic Model</a:t>
            </a:r>
          </a:p>
        </p:txBody>
      </p:sp>
      <p:sp>
        <p:nvSpPr>
          <p:cNvPr id="11" name="TextBox 10">
            <a:extLst>
              <a:ext uri="{FF2B5EF4-FFF2-40B4-BE49-F238E27FC236}">
                <a16:creationId xmlns:a16="http://schemas.microsoft.com/office/drawing/2014/main" id="{8F6348A0-AB4D-0697-7ED5-9584FD73B0B2}"/>
              </a:ext>
            </a:extLst>
          </p:cNvPr>
          <p:cNvSpPr txBox="1"/>
          <p:nvPr/>
        </p:nvSpPr>
        <p:spPr>
          <a:xfrm>
            <a:off x="10414000" y="6451600"/>
            <a:ext cx="1270000" cy="369332"/>
          </a:xfrm>
          <a:prstGeom prst="rect">
            <a:avLst/>
          </a:prstGeom>
          <a:noFill/>
        </p:spPr>
        <p:txBody>
          <a:bodyPr vert="horz" wrap="square" lIns="0" tIns="0" rIns="0" bIns="0" rtlCol="0">
            <a:noAutofit/>
          </a:bodyPr>
          <a:lstStyle/>
          <a:p>
            <a:pPr algn="r"/>
            <a:r>
              <a:rPr lang="en-US" sz="1000">
                <a:solidFill>
                  <a:srgbClr val="52514E"/>
                </a:solidFill>
                <a:latin typeface="Calibri" panose="020F0502020204030204" pitchFamily="34" charset="0"/>
              </a:rPr>
              <a:t>9 / 10</a:t>
            </a:r>
          </a:p>
        </p:txBody>
      </p:sp>
    </p:spTree>
    <p:extLst>
      <p:ext uri="{BB962C8B-B14F-4D97-AF65-F5344CB8AC3E}">
        <p14:creationId xmlns:p14="http://schemas.microsoft.com/office/powerpoint/2010/main" val="919435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3293D"/>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BBA464D-5B73-9607-F35D-EA4BF4C8CC59}"/>
              </a:ext>
            </a:extLst>
          </p:cNvPr>
          <p:cNvSpPr txBox="1"/>
          <p:nvPr/>
        </p:nvSpPr>
        <p:spPr>
          <a:xfrm>
            <a:off x="508000" y="330200"/>
            <a:ext cx="11176000" cy="369332"/>
          </a:xfrm>
          <a:prstGeom prst="rect">
            <a:avLst/>
          </a:prstGeom>
          <a:noFill/>
        </p:spPr>
        <p:txBody>
          <a:bodyPr vert="horz" wrap="square" lIns="0" tIns="0" rIns="0" bIns="0" rtlCol="0">
            <a:noAutofit/>
          </a:bodyPr>
          <a:lstStyle/>
          <a:p>
            <a:r>
              <a:rPr lang="en-US" sz="3000" b="1">
                <a:solidFill>
                  <a:srgbClr val="FFFFFF"/>
                </a:solidFill>
                <a:latin typeface="Cambria" panose="02040503050406030204" pitchFamily="18" charset="0"/>
              </a:rPr>
              <a:t>Take-aways</a:t>
            </a:r>
          </a:p>
        </p:txBody>
      </p:sp>
      <p:sp>
        <p:nvSpPr>
          <p:cNvPr id="3" name="Oval 2">
            <a:extLst>
              <a:ext uri="{FF2B5EF4-FFF2-40B4-BE49-F238E27FC236}">
                <a16:creationId xmlns:a16="http://schemas.microsoft.com/office/drawing/2014/main" id="{FA9919E9-5365-C736-F169-897118F6EFC9}"/>
              </a:ext>
            </a:extLst>
          </p:cNvPr>
          <p:cNvSpPr/>
          <p:nvPr/>
        </p:nvSpPr>
        <p:spPr>
          <a:xfrm>
            <a:off x="508000" y="1219200"/>
            <a:ext cx="457200" cy="457200"/>
          </a:xfrm>
          <a:prstGeom prst="ellipse">
            <a:avLst/>
          </a:prstGeom>
          <a:solidFill>
            <a:srgbClr val="EB68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solidFill>
                  <a:srgbClr val="FFFFFF"/>
                </a:solidFill>
                <a:latin typeface="Calibri" panose="020F0502020204030204" pitchFamily="34" charset="0"/>
              </a:rPr>
              <a:t>1</a:t>
            </a:r>
          </a:p>
        </p:txBody>
      </p:sp>
      <p:sp>
        <p:nvSpPr>
          <p:cNvPr id="4" name="TextBox 3">
            <a:extLst>
              <a:ext uri="{FF2B5EF4-FFF2-40B4-BE49-F238E27FC236}">
                <a16:creationId xmlns:a16="http://schemas.microsoft.com/office/drawing/2014/main" id="{465DE117-1830-A949-F05E-C51FB2D2F911}"/>
              </a:ext>
            </a:extLst>
          </p:cNvPr>
          <p:cNvSpPr txBox="1"/>
          <p:nvPr/>
        </p:nvSpPr>
        <p:spPr>
          <a:xfrm>
            <a:off x="1168400" y="1270000"/>
            <a:ext cx="10515600" cy="369332"/>
          </a:xfrm>
          <a:prstGeom prst="rect">
            <a:avLst/>
          </a:prstGeom>
          <a:noFill/>
        </p:spPr>
        <p:txBody>
          <a:bodyPr vert="horz" wrap="square" lIns="0" tIns="0" rIns="0" bIns="0" rtlCol="0">
            <a:noAutofit/>
          </a:bodyPr>
          <a:lstStyle/>
          <a:p>
            <a:r>
              <a:rPr lang="en-US" sz="1900">
                <a:solidFill>
                  <a:srgbClr val="FFFFFF"/>
                </a:solidFill>
                <a:latin typeface="Calibri" panose="020F0502020204030204" pitchFamily="34" charset="0"/>
              </a:rPr>
              <a:t>ns-3.48 + 5G-LENA v5.1 runs on my VM; setup and what broke are documented</a:t>
            </a:r>
          </a:p>
        </p:txBody>
      </p:sp>
      <p:sp>
        <p:nvSpPr>
          <p:cNvPr id="5" name="Oval 4">
            <a:extLst>
              <a:ext uri="{FF2B5EF4-FFF2-40B4-BE49-F238E27FC236}">
                <a16:creationId xmlns:a16="http://schemas.microsoft.com/office/drawing/2014/main" id="{A5F7F1D3-5FAF-FF52-713C-E0983F3A8BC6}"/>
              </a:ext>
            </a:extLst>
          </p:cNvPr>
          <p:cNvSpPr/>
          <p:nvPr/>
        </p:nvSpPr>
        <p:spPr>
          <a:xfrm>
            <a:off x="508000" y="2108200"/>
            <a:ext cx="457200" cy="457200"/>
          </a:xfrm>
          <a:prstGeom prst="ellipse">
            <a:avLst/>
          </a:prstGeom>
          <a:solidFill>
            <a:srgbClr val="EB68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solidFill>
                  <a:srgbClr val="FFFFFF"/>
                </a:solidFill>
                <a:latin typeface="Calibri" panose="020F0502020204030204" pitchFamily="34" charset="0"/>
              </a:rPr>
              <a:t>2</a:t>
            </a:r>
          </a:p>
        </p:txBody>
      </p:sp>
      <p:sp>
        <p:nvSpPr>
          <p:cNvPr id="6" name="TextBox 5">
            <a:extLst>
              <a:ext uri="{FF2B5EF4-FFF2-40B4-BE49-F238E27FC236}">
                <a16:creationId xmlns:a16="http://schemas.microsoft.com/office/drawing/2014/main" id="{7C4FBB3B-B453-6637-50CB-8A71ED98AB69}"/>
              </a:ext>
            </a:extLst>
          </p:cNvPr>
          <p:cNvSpPr txBox="1"/>
          <p:nvPr/>
        </p:nvSpPr>
        <p:spPr>
          <a:xfrm>
            <a:off x="1168400" y="2159000"/>
            <a:ext cx="10515600" cy="369332"/>
          </a:xfrm>
          <a:prstGeom prst="rect">
            <a:avLst/>
          </a:prstGeom>
          <a:noFill/>
        </p:spPr>
        <p:txBody>
          <a:bodyPr vert="horz" wrap="square" lIns="0" tIns="0" rIns="0" bIns="0" rtlCol="0">
            <a:noAutofit/>
          </a:bodyPr>
          <a:lstStyle/>
          <a:p>
            <a:r>
              <a:rPr lang="en-US" sz="1900">
                <a:solidFill>
                  <a:srgbClr val="FFFFFF"/>
                </a:solidFill>
                <a:latin typeface="Calibri" panose="020F0502020204030204" pitchFamily="34" charset="0"/>
              </a:rPr>
              <a:t>My XR video generator matches 3GPP TR 26.926: PDF/CDF, KS tests, Wireshark</a:t>
            </a:r>
          </a:p>
        </p:txBody>
      </p:sp>
      <p:sp>
        <p:nvSpPr>
          <p:cNvPr id="7" name="Oval 6">
            <a:extLst>
              <a:ext uri="{FF2B5EF4-FFF2-40B4-BE49-F238E27FC236}">
                <a16:creationId xmlns:a16="http://schemas.microsoft.com/office/drawing/2014/main" id="{A59508A5-A29A-F008-79CD-B60C56F9F22F}"/>
              </a:ext>
            </a:extLst>
          </p:cNvPr>
          <p:cNvSpPr/>
          <p:nvPr/>
        </p:nvSpPr>
        <p:spPr>
          <a:xfrm>
            <a:off x="508000" y="2997200"/>
            <a:ext cx="457200" cy="457200"/>
          </a:xfrm>
          <a:prstGeom prst="ellipse">
            <a:avLst/>
          </a:prstGeom>
          <a:solidFill>
            <a:srgbClr val="EB68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solidFill>
                  <a:srgbClr val="FFFFFF"/>
                </a:solidFill>
                <a:latin typeface="Calibri" panose="020F0502020204030204" pitchFamily="34" charset="0"/>
              </a:rPr>
              <a:t>3</a:t>
            </a:r>
          </a:p>
        </p:txBody>
      </p:sp>
      <p:sp>
        <p:nvSpPr>
          <p:cNvPr id="8" name="TextBox 7">
            <a:extLst>
              <a:ext uri="{FF2B5EF4-FFF2-40B4-BE49-F238E27FC236}">
                <a16:creationId xmlns:a16="http://schemas.microsoft.com/office/drawing/2014/main" id="{28FE5734-8AE0-3C40-A9DF-92786B82E6D8}"/>
              </a:ext>
            </a:extLst>
          </p:cNvPr>
          <p:cNvSpPr txBox="1"/>
          <p:nvPr/>
        </p:nvSpPr>
        <p:spPr>
          <a:xfrm>
            <a:off x="1168400" y="3048000"/>
            <a:ext cx="10515600" cy="369332"/>
          </a:xfrm>
          <a:prstGeom prst="rect">
            <a:avLst/>
          </a:prstGeom>
          <a:noFill/>
        </p:spPr>
        <p:txBody>
          <a:bodyPr vert="horz" wrap="square" lIns="0" tIns="0" rIns="0" bIns="0" rtlCol="0">
            <a:noAutofit/>
          </a:bodyPr>
          <a:lstStyle/>
          <a:p>
            <a:r>
              <a:rPr lang="en-US" sz="1900">
                <a:solidFill>
                  <a:srgbClr val="FFFFFF"/>
                </a:solidFill>
                <a:latin typeface="Calibri" panose="020F0502020204030204" pitchFamily="34" charset="0"/>
              </a:rPr>
              <a:t>The capacity-only check accepts an intent that breaks slice B's SLA; harm depends on the victim's load, not only the share</a:t>
            </a:r>
          </a:p>
        </p:txBody>
      </p:sp>
      <p:sp>
        <p:nvSpPr>
          <p:cNvPr id="9" name="TextBox 8">
            <a:extLst>
              <a:ext uri="{FF2B5EF4-FFF2-40B4-BE49-F238E27FC236}">
                <a16:creationId xmlns:a16="http://schemas.microsoft.com/office/drawing/2014/main" id="{E0AB44CE-7D90-3F90-2A2F-21CF94C40AB0}"/>
              </a:ext>
            </a:extLst>
          </p:cNvPr>
          <p:cNvSpPr txBox="1"/>
          <p:nvPr/>
        </p:nvSpPr>
        <p:spPr>
          <a:xfrm>
            <a:off x="508000" y="4038600"/>
            <a:ext cx="11176000" cy="369332"/>
          </a:xfrm>
          <a:prstGeom prst="rect">
            <a:avLst/>
          </a:prstGeom>
          <a:noFill/>
        </p:spPr>
        <p:txBody>
          <a:bodyPr vert="horz" wrap="square" lIns="0" tIns="0" rIns="0" bIns="0" rtlCol="0">
            <a:noAutofit/>
          </a:bodyPr>
          <a:lstStyle/>
          <a:p>
            <a:r>
              <a:rPr lang="en-US" sz="1300" b="1">
                <a:solidFill>
                  <a:srgbClr val="EB6834"/>
                </a:solidFill>
                <a:latin typeface="Calibri" panose="020F0502020204030204" pitchFamily="34" charset="0"/>
              </a:rPr>
              <a:t>NEXT</a:t>
            </a:r>
          </a:p>
        </p:txBody>
      </p:sp>
      <p:sp>
        <p:nvSpPr>
          <p:cNvPr id="10" name="Rectangle: Rounded Corners 9">
            <a:extLst>
              <a:ext uri="{FF2B5EF4-FFF2-40B4-BE49-F238E27FC236}">
                <a16:creationId xmlns:a16="http://schemas.microsoft.com/office/drawing/2014/main" id="{3AD796B4-9442-A968-EACE-AAFA1BD04022}"/>
              </a:ext>
            </a:extLst>
          </p:cNvPr>
          <p:cNvSpPr/>
          <p:nvPr/>
        </p:nvSpPr>
        <p:spPr>
          <a:xfrm>
            <a:off x="508000" y="4368800"/>
            <a:ext cx="3556000" cy="1270000"/>
          </a:xfrm>
          <a:prstGeom prst="roundRect">
            <a:avLst>
              <a:gd name="adj" fmla="val 8000"/>
            </a:avLst>
          </a:prstGeom>
          <a:solidFill>
            <a:srgbClr val="1E3A5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FF833E5-8D3F-FEA7-C469-086C3744CADB}"/>
              </a:ext>
            </a:extLst>
          </p:cNvPr>
          <p:cNvSpPr txBox="1"/>
          <p:nvPr/>
        </p:nvSpPr>
        <p:spPr>
          <a:xfrm>
            <a:off x="711200" y="4546600"/>
            <a:ext cx="3149600" cy="369332"/>
          </a:xfrm>
          <a:prstGeom prst="rect">
            <a:avLst/>
          </a:prstGeom>
          <a:noFill/>
        </p:spPr>
        <p:txBody>
          <a:bodyPr vert="horz" wrap="square" lIns="0" tIns="0" rIns="0" bIns="0" rtlCol="0">
            <a:noAutofit/>
          </a:bodyPr>
          <a:lstStyle/>
          <a:p>
            <a:r>
              <a:rPr lang="en-US" b="1">
                <a:solidFill>
                  <a:srgbClr val="EB6834"/>
                </a:solidFill>
                <a:latin typeface="Calibri" panose="020F0502020204030204" pitchFamily="34" charset="0"/>
              </a:rPr>
              <a:t>A3</a:t>
            </a:r>
          </a:p>
        </p:txBody>
      </p:sp>
      <p:sp>
        <p:nvSpPr>
          <p:cNvPr id="12" name="TextBox 11">
            <a:extLst>
              <a:ext uri="{FF2B5EF4-FFF2-40B4-BE49-F238E27FC236}">
                <a16:creationId xmlns:a16="http://schemas.microsoft.com/office/drawing/2014/main" id="{0E0FE808-8430-31AC-4F00-1D025584C159}"/>
              </a:ext>
            </a:extLst>
          </p:cNvPr>
          <p:cNvSpPr txBox="1"/>
          <p:nvPr/>
        </p:nvSpPr>
        <p:spPr>
          <a:xfrm>
            <a:off x="711200" y="4902200"/>
            <a:ext cx="3149600" cy="369332"/>
          </a:xfrm>
          <a:prstGeom prst="rect">
            <a:avLst/>
          </a:prstGeom>
          <a:noFill/>
        </p:spPr>
        <p:txBody>
          <a:bodyPr vert="horz" wrap="square" lIns="0" tIns="0" rIns="0" bIns="0" rtlCol="0">
            <a:noAutofit/>
          </a:bodyPr>
          <a:lstStyle/>
          <a:p>
            <a:r>
              <a:rPr lang="en-US" sz="1500">
                <a:solidFill>
                  <a:srgbClr val="FFFFFF"/>
                </a:solidFill>
                <a:latin typeface="Calibri" panose="020F0502020204030204" pitchFamily="34" charset="0"/>
              </a:rPr>
              <a:t>baseline paper on RAN slicing QoS</a:t>
            </a:r>
          </a:p>
        </p:txBody>
      </p:sp>
      <p:sp>
        <p:nvSpPr>
          <p:cNvPr id="13" name="Rectangle: Rounded Corners 12">
            <a:extLst>
              <a:ext uri="{FF2B5EF4-FFF2-40B4-BE49-F238E27FC236}">
                <a16:creationId xmlns:a16="http://schemas.microsoft.com/office/drawing/2014/main" id="{254007F0-37CC-5B15-0A40-A8B1AF5E8621}"/>
              </a:ext>
            </a:extLst>
          </p:cNvPr>
          <p:cNvSpPr/>
          <p:nvPr/>
        </p:nvSpPr>
        <p:spPr>
          <a:xfrm>
            <a:off x="4318000" y="4368800"/>
            <a:ext cx="3556000" cy="1270000"/>
          </a:xfrm>
          <a:prstGeom prst="roundRect">
            <a:avLst>
              <a:gd name="adj" fmla="val 8000"/>
            </a:avLst>
          </a:prstGeom>
          <a:solidFill>
            <a:srgbClr val="1E3A5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1E929D7-75E0-787E-1C71-EE96AF9F58BF}"/>
              </a:ext>
            </a:extLst>
          </p:cNvPr>
          <p:cNvSpPr txBox="1"/>
          <p:nvPr/>
        </p:nvSpPr>
        <p:spPr>
          <a:xfrm>
            <a:off x="4521200" y="4546600"/>
            <a:ext cx="3149600" cy="369332"/>
          </a:xfrm>
          <a:prstGeom prst="rect">
            <a:avLst/>
          </a:prstGeom>
          <a:noFill/>
        </p:spPr>
        <p:txBody>
          <a:bodyPr vert="horz" wrap="square" lIns="0" tIns="0" rIns="0" bIns="0" rtlCol="0">
            <a:noAutofit/>
          </a:bodyPr>
          <a:lstStyle/>
          <a:p>
            <a:r>
              <a:rPr lang="en-US" b="1">
                <a:solidFill>
                  <a:srgbClr val="EB6834"/>
                </a:solidFill>
                <a:latin typeface="Calibri" panose="020F0502020204030204" pitchFamily="34" charset="0"/>
              </a:rPr>
              <a:t>A4</a:t>
            </a:r>
          </a:p>
        </p:txBody>
      </p:sp>
      <p:sp>
        <p:nvSpPr>
          <p:cNvPr id="15" name="TextBox 14">
            <a:extLst>
              <a:ext uri="{FF2B5EF4-FFF2-40B4-BE49-F238E27FC236}">
                <a16:creationId xmlns:a16="http://schemas.microsoft.com/office/drawing/2014/main" id="{62681F12-0386-09C0-A200-6B185060CB9A}"/>
              </a:ext>
            </a:extLst>
          </p:cNvPr>
          <p:cNvSpPr txBox="1"/>
          <p:nvPr/>
        </p:nvSpPr>
        <p:spPr>
          <a:xfrm>
            <a:off x="4521200" y="4902200"/>
            <a:ext cx="3149600" cy="369332"/>
          </a:xfrm>
          <a:prstGeom prst="rect">
            <a:avLst/>
          </a:prstGeom>
          <a:noFill/>
        </p:spPr>
        <p:txBody>
          <a:bodyPr vert="horz" wrap="square" lIns="0" tIns="0" rIns="0" bIns="0" rtlCol="0">
            <a:noAutofit/>
          </a:bodyPr>
          <a:lstStyle/>
          <a:p>
            <a:r>
              <a:rPr lang="en-US" sz="1500">
                <a:solidFill>
                  <a:srgbClr val="FFFFFF"/>
                </a:solidFill>
                <a:latin typeface="Calibri" panose="020F0502020204030204" pitchFamily="34" charset="0"/>
              </a:rPr>
              <a:t>sweep share x slice B load, 10+ seeds, 95 % CI</a:t>
            </a:r>
          </a:p>
        </p:txBody>
      </p:sp>
      <p:sp>
        <p:nvSpPr>
          <p:cNvPr id="16" name="Rectangle: Rounded Corners 15">
            <a:extLst>
              <a:ext uri="{FF2B5EF4-FFF2-40B4-BE49-F238E27FC236}">
                <a16:creationId xmlns:a16="http://schemas.microsoft.com/office/drawing/2014/main" id="{C53BEA39-D3DE-5B7C-27BF-F03BF7C9EBF4}"/>
              </a:ext>
            </a:extLst>
          </p:cNvPr>
          <p:cNvSpPr/>
          <p:nvPr/>
        </p:nvSpPr>
        <p:spPr>
          <a:xfrm>
            <a:off x="8128000" y="4368800"/>
            <a:ext cx="3556000" cy="1270000"/>
          </a:xfrm>
          <a:prstGeom prst="roundRect">
            <a:avLst>
              <a:gd name="adj" fmla="val 8000"/>
            </a:avLst>
          </a:prstGeom>
          <a:solidFill>
            <a:srgbClr val="1E3A5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FB6CF3A-055E-51F5-2CA7-4B056E4EA16E}"/>
              </a:ext>
            </a:extLst>
          </p:cNvPr>
          <p:cNvSpPr txBox="1"/>
          <p:nvPr/>
        </p:nvSpPr>
        <p:spPr>
          <a:xfrm>
            <a:off x="8331200" y="4546600"/>
            <a:ext cx="3149600" cy="369332"/>
          </a:xfrm>
          <a:prstGeom prst="rect">
            <a:avLst/>
          </a:prstGeom>
          <a:noFill/>
        </p:spPr>
        <p:txBody>
          <a:bodyPr vert="horz" wrap="square" lIns="0" tIns="0" rIns="0" bIns="0" rtlCol="0">
            <a:noAutofit/>
          </a:bodyPr>
          <a:lstStyle/>
          <a:p>
            <a:r>
              <a:rPr lang="en-US" b="1">
                <a:solidFill>
                  <a:srgbClr val="EB6834"/>
                </a:solidFill>
                <a:latin typeface="Calibri" panose="020F0502020204030204" pitchFamily="34" charset="0"/>
              </a:rPr>
              <a:t>Final</a:t>
            </a:r>
          </a:p>
        </p:txBody>
      </p:sp>
      <p:sp>
        <p:nvSpPr>
          <p:cNvPr id="18" name="TextBox 17">
            <a:extLst>
              <a:ext uri="{FF2B5EF4-FFF2-40B4-BE49-F238E27FC236}">
                <a16:creationId xmlns:a16="http://schemas.microsoft.com/office/drawing/2014/main" id="{032F22D0-2081-2618-60B5-E4079364F8A5}"/>
              </a:ext>
            </a:extLst>
          </p:cNvPr>
          <p:cNvSpPr txBox="1"/>
          <p:nvPr/>
        </p:nvSpPr>
        <p:spPr>
          <a:xfrm>
            <a:off x="8331200" y="4902200"/>
            <a:ext cx="3149600" cy="369332"/>
          </a:xfrm>
          <a:prstGeom prst="rect">
            <a:avLst/>
          </a:prstGeom>
          <a:noFill/>
        </p:spPr>
        <p:txBody>
          <a:bodyPr vert="horz" wrap="square" lIns="0" tIns="0" rIns="0" bIns="0" rtlCol="0">
            <a:noAutofit/>
          </a:bodyPr>
          <a:lstStyle/>
          <a:p>
            <a:r>
              <a:rPr lang="en-US" sz="1500">
                <a:solidFill>
                  <a:srgbClr val="FFFFFF"/>
                </a:solidFill>
                <a:latin typeface="Calibri" panose="020F0502020204030204" pitchFamily="34" charset="0"/>
              </a:rPr>
              <a:t>QoS-aware check that rejects intents like a90-heavyB</a:t>
            </a:r>
          </a:p>
        </p:txBody>
      </p:sp>
      <p:sp>
        <p:nvSpPr>
          <p:cNvPr id="19" name="TextBox 18">
            <a:extLst>
              <a:ext uri="{FF2B5EF4-FFF2-40B4-BE49-F238E27FC236}">
                <a16:creationId xmlns:a16="http://schemas.microsoft.com/office/drawing/2014/main" id="{FA57886D-32D6-7CA7-7EDD-D8CF16EC0B95}"/>
              </a:ext>
            </a:extLst>
          </p:cNvPr>
          <p:cNvSpPr txBox="1"/>
          <p:nvPr/>
        </p:nvSpPr>
        <p:spPr>
          <a:xfrm>
            <a:off x="508000" y="5918200"/>
            <a:ext cx="11176000" cy="369332"/>
          </a:xfrm>
          <a:prstGeom prst="rect">
            <a:avLst/>
          </a:prstGeom>
          <a:noFill/>
        </p:spPr>
        <p:txBody>
          <a:bodyPr vert="horz" wrap="square" lIns="0" tIns="0" rIns="0" bIns="0" rtlCol="0">
            <a:noAutofit/>
          </a:bodyPr>
          <a:lstStyle/>
          <a:p>
            <a:r>
              <a:rPr lang="en-US" sz="1300">
                <a:solidFill>
                  <a:srgbClr val="C9D6E3"/>
                </a:solidFill>
                <a:latin typeface="Calibri" panose="020F0502020204030204" pitchFamily="34" charset="0"/>
              </a:rPr>
              <a:t>Limits: one seed and 6 s per run; "loss" under overload is backlog left at the end of the run.</a:t>
            </a:r>
          </a:p>
        </p:txBody>
      </p:sp>
      <p:sp>
        <p:nvSpPr>
          <p:cNvPr id="20" name="TextBox 19">
            <a:extLst>
              <a:ext uri="{FF2B5EF4-FFF2-40B4-BE49-F238E27FC236}">
                <a16:creationId xmlns:a16="http://schemas.microsoft.com/office/drawing/2014/main" id="{F4400844-2499-E0FA-2546-250856F0F32C}"/>
              </a:ext>
            </a:extLst>
          </p:cNvPr>
          <p:cNvSpPr txBox="1"/>
          <p:nvPr/>
        </p:nvSpPr>
        <p:spPr>
          <a:xfrm>
            <a:off x="10414000" y="6451600"/>
            <a:ext cx="1270000" cy="369332"/>
          </a:xfrm>
          <a:prstGeom prst="rect">
            <a:avLst/>
          </a:prstGeom>
          <a:noFill/>
        </p:spPr>
        <p:txBody>
          <a:bodyPr vert="horz" wrap="square" lIns="0" tIns="0" rIns="0" bIns="0" rtlCol="0">
            <a:noAutofit/>
          </a:bodyPr>
          <a:lstStyle/>
          <a:p>
            <a:pPr algn="r"/>
            <a:r>
              <a:rPr lang="en-US" sz="1000">
                <a:solidFill>
                  <a:srgbClr val="C9D6E3"/>
                </a:solidFill>
                <a:latin typeface="Calibri" panose="020F0502020204030204" pitchFamily="34" charset="0"/>
              </a:rPr>
              <a:t>10 / 10</a:t>
            </a:r>
          </a:p>
        </p:txBody>
      </p:sp>
    </p:spTree>
    <p:extLst>
      <p:ext uri="{BB962C8B-B14F-4D97-AF65-F5344CB8AC3E}">
        <p14:creationId xmlns:p14="http://schemas.microsoft.com/office/powerpoint/2010/main" val="3737181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2686</Words>
  <Application>Microsoft Office PowerPoint</Application>
  <PresentationFormat>Custom</PresentationFormat>
  <Paragraphs>279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Petrajoy Davidson</dc:creator>
  <cp:lastModifiedBy>Petrajoy Davidson</cp:lastModifiedBy>
  <cp:revision>1</cp:revision>
  <dcterms:created xsi:type="dcterms:W3CDTF">2026-10-17T14:58:44Z</dcterms:created>
  <dcterms:modified xsi:type="dcterms:W3CDTF">2026-10-17T14:58:44Z</dcterms:modified>
</cp:coreProperties>
</file>